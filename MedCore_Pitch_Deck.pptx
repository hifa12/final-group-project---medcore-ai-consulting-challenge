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71" r:id="rId3"/>
    <p:sldId id="258" r:id="rId4"/>
    <p:sldId id="259" r:id="rId5"/>
    <p:sldId id="262" r:id="rId6"/>
    <p:sldId id="263" r:id="rId7"/>
    <p:sldId id="264" r:id="rId8"/>
    <p:sldId id="265" r:id="rId9"/>
    <p:sldId id="268" r:id="rId10"/>
    <p:sldId id="269" r:id="rId11"/>
    <p:sldId id="270"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5CA86D-619D-0868-CFCE-F0F1F0658806}" v="1" dt="2026-07-09T21:09:51.194"/>
    <p1510:client id="{9161D50B-87EB-2EE1-4328-63B036C66971}" v="75" dt="2026-07-09T22:04:34.263"/>
    <p1510:client id="{925B7FCD-41A7-0330-CFCB-E2E1AC457307}" v="11" dt="2026-07-09T19:47:51.039"/>
    <p1510:client id="{DE872420-E363-1E48-B6ED-F5C1F08C222E}" v="703" dt="2026-07-09T21:50:15.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81" d="100"/>
          <a:sy n="81" d="100"/>
        </p:scale>
        <p:origin x="184"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6B6B66"/>
                </a:solidFill>
                <a:latin typeface="Calibri"/>
              </a:defRPr>
            </a:pPr>
            <a:r>
              <a:rPr lang="en-CA" sz="1300" b="0" i="0" u="none" strike="noStrike">
                <a:solidFill>
                  <a:srgbClr val="6B6B66"/>
                </a:solidFill>
                <a:latin typeface="Calibri"/>
              </a:rPr>
              <a:t>Quarterly At-Risk rate</a:t>
            </a:r>
          </a:p>
        </c:rich>
      </c:tx>
      <c:overlay val="0"/>
    </c:title>
    <c:autoTitleDeleted val="0"/>
    <c:plotArea>
      <c:layout/>
      <c:lineChart>
        <c:grouping val="standard"/>
        <c:varyColors val="0"/>
        <c:ser>
          <c:idx val="0"/>
          <c:order val="0"/>
          <c:tx>
            <c:strRef>
              <c:f>Sheet1!$B$1</c:f>
              <c:strCache>
                <c:ptCount val="1"/>
                <c:pt idx="0">
                  <c:v>At-Risk rate (%)</c:v>
                </c:pt>
              </c:strCache>
            </c:strRef>
          </c:tx>
          <c:spPr>
            <a:ln w="31750" cap="flat">
              <a:solidFill>
                <a:srgbClr val="D8492F"/>
              </a:solidFill>
              <a:prstDash val="solid"/>
              <a:round/>
            </a:ln>
            <a:effectLst/>
          </c:spPr>
          <c:marker>
            <c:symbol val="circle"/>
            <c:size val="5"/>
            <c:spPr>
              <a:solidFill>
                <a:srgbClr val="D8492F"/>
              </a:solidFill>
              <a:ln w="9525" cap="flat">
                <a:solidFill>
                  <a:srgbClr val="D8492F"/>
                </a:solidFill>
                <a:prstDash val="solid"/>
                <a:round/>
              </a:ln>
              <a:effectLst/>
            </c:spPr>
          </c:marker>
          <c:cat>
            <c:strRef>
              <c:f>Sheet1!$A$2:$A$14</c:f>
              <c:strCache>
                <c:ptCount val="13"/>
                <c:pt idx="0">
                  <c:v>23Q1</c:v>
                </c:pt>
                <c:pt idx="1">
                  <c:v>23Q2</c:v>
                </c:pt>
                <c:pt idx="2">
                  <c:v>23Q3</c:v>
                </c:pt>
                <c:pt idx="3">
                  <c:v>23Q4</c:v>
                </c:pt>
                <c:pt idx="4">
                  <c:v>24Q1</c:v>
                </c:pt>
                <c:pt idx="5">
                  <c:v>24Q2</c:v>
                </c:pt>
                <c:pt idx="6">
                  <c:v>24Q3</c:v>
                </c:pt>
                <c:pt idx="7">
                  <c:v>24Q4</c:v>
                </c:pt>
                <c:pt idx="8">
                  <c:v>25Q1</c:v>
                </c:pt>
                <c:pt idx="9">
                  <c:v>25Q2</c:v>
                </c:pt>
                <c:pt idx="10">
                  <c:v>25Q3</c:v>
                </c:pt>
                <c:pt idx="11">
                  <c:v>25Q4</c:v>
                </c:pt>
                <c:pt idx="12">
                  <c:v>26Q1</c:v>
                </c:pt>
              </c:strCache>
            </c:strRef>
          </c:cat>
          <c:val>
            <c:numRef>
              <c:f>Sheet1!$B$2:$B$14</c:f>
              <c:numCache>
                <c:formatCode>General</c:formatCode>
                <c:ptCount val="13"/>
                <c:pt idx="0">
                  <c:v>39.1</c:v>
                </c:pt>
                <c:pt idx="1">
                  <c:v>38.6</c:v>
                </c:pt>
                <c:pt idx="2">
                  <c:v>38.1</c:v>
                </c:pt>
                <c:pt idx="3">
                  <c:v>38.5</c:v>
                </c:pt>
                <c:pt idx="4">
                  <c:v>38.799999999999997</c:v>
                </c:pt>
                <c:pt idx="5">
                  <c:v>38.700000000000003</c:v>
                </c:pt>
                <c:pt idx="6">
                  <c:v>38.799999999999997</c:v>
                </c:pt>
                <c:pt idx="7">
                  <c:v>38.6</c:v>
                </c:pt>
                <c:pt idx="8">
                  <c:v>38.5</c:v>
                </c:pt>
                <c:pt idx="9">
                  <c:v>39.1</c:v>
                </c:pt>
                <c:pt idx="10">
                  <c:v>37.9</c:v>
                </c:pt>
                <c:pt idx="11">
                  <c:v>38.5</c:v>
                </c:pt>
                <c:pt idx="12">
                  <c:v>39.5</c:v>
                </c:pt>
              </c:numCache>
            </c:numRef>
          </c:val>
          <c:smooth val="0"/>
          <c:extLst>
            <c:ext xmlns:c16="http://schemas.microsoft.com/office/drawing/2014/chart" uri="{C3380CC4-5D6E-409C-BE32-E72D297353CC}">
              <c16:uniqueId val="{00000000-2C3F-1543-8A14-54099649A8E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6"/>
                </a:solidFill>
                <a:latin typeface="Arial"/>
              </a:defRPr>
            </a:pPr>
            <a:endParaRPr lang="en-US"/>
          </a:p>
        </c:txPr>
        <c:crossAx val="2094734552"/>
        <c:crosses val="autoZero"/>
        <c:auto val="1"/>
        <c:lblAlgn val="ctr"/>
        <c:lblOffset val="100"/>
        <c:noMultiLvlLbl val="1"/>
      </c:catAx>
      <c:valAx>
        <c:axId val="2094734552"/>
        <c:scaling>
          <c:orientation val="minMax"/>
          <c:max val="45"/>
          <c:min val="30"/>
        </c:scaling>
        <c:delete val="0"/>
        <c:axPos val="l"/>
        <c:majorGridlines>
          <c:spPr>
            <a:ln w="9525" cap="flat">
              <a:solidFill>
                <a:srgbClr val="E5E0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At-Risk rate</c:v>
                </c:pt>
              </c:strCache>
            </c:strRef>
          </c:tx>
          <c:spPr>
            <a:solidFill>
              <a:srgbClr val="D8492F"/>
            </a:solidFill>
            <a:effectLst/>
          </c:spPr>
          <c:invertIfNegative val="0"/>
          <c:dLbls>
            <c:numFmt formatCode="0&quot;%&quot;" sourceLinked="0"/>
            <c:spPr>
              <a:noFill/>
              <a:ln>
                <a:noFill/>
              </a:ln>
              <a:effectLst/>
            </c:spPr>
            <c:txPr>
              <a:bodyPr/>
              <a:lstStyle/>
              <a:p>
                <a:pPr>
                  <a:defRPr sz="10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D021</c:v>
                </c:pt>
                <c:pt idx="1">
                  <c:v>D027</c:v>
                </c:pt>
                <c:pt idx="2">
                  <c:v>D037</c:v>
                </c:pt>
                <c:pt idx="3">
                  <c:v>D025</c:v>
                </c:pt>
                <c:pt idx="4">
                  <c:v>D046</c:v>
                </c:pt>
                <c:pt idx="5">
                  <c:v>…</c:v>
                </c:pt>
                <c:pt idx="6">
                  <c:v>D001</c:v>
                </c:pt>
                <c:pt idx="7">
                  <c:v>D020</c:v>
                </c:pt>
                <c:pt idx="8">
                  <c:v>D035</c:v>
                </c:pt>
                <c:pt idx="9">
                  <c:v>D004</c:v>
                </c:pt>
                <c:pt idx="10">
                  <c:v>D032</c:v>
                </c:pt>
              </c:strCache>
            </c:strRef>
          </c:cat>
          <c:val>
            <c:numRef>
              <c:f>Sheet1!$B$2:$B$12</c:f>
              <c:numCache>
                <c:formatCode>General</c:formatCode>
                <c:ptCount val="11"/>
                <c:pt idx="0">
                  <c:v>57.9</c:v>
                </c:pt>
                <c:pt idx="1">
                  <c:v>57.1</c:v>
                </c:pt>
                <c:pt idx="2">
                  <c:v>56.9</c:v>
                </c:pt>
                <c:pt idx="3">
                  <c:v>56.8</c:v>
                </c:pt>
                <c:pt idx="4">
                  <c:v>55.3</c:v>
                </c:pt>
                <c:pt idx="6">
                  <c:v>22.2</c:v>
                </c:pt>
                <c:pt idx="7">
                  <c:v>22.2</c:v>
                </c:pt>
                <c:pt idx="8">
                  <c:v>21.8</c:v>
                </c:pt>
                <c:pt idx="9">
                  <c:v>21.2</c:v>
                </c:pt>
                <c:pt idx="10">
                  <c:v>20.5</c:v>
                </c:pt>
              </c:numCache>
            </c:numRef>
          </c:val>
          <c:extLst>
            <c:ext xmlns:c16="http://schemas.microsoft.com/office/drawing/2014/chart" uri="{C3380CC4-5D6E-409C-BE32-E72D297353CC}">
              <c16:uniqueId val="{00000000-F461-CD46-BA0F-6BB2483C32A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68"/>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At-Risk rate</c:v>
                </c:pt>
              </c:strCache>
            </c:strRef>
          </c:tx>
          <c:spPr>
            <a:solidFill>
              <a:srgbClr val="B8862F"/>
            </a:solidFill>
            <a:effectLst/>
          </c:spPr>
          <c:invertIfNegative val="0"/>
          <c:dLbls>
            <c:numFmt formatCode="0&quot;%&quot;"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0–3 days</c:v>
                </c:pt>
                <c:pt idx="1">
                  <c:v>4–7</c:v>
                </c:pt>
                <c:pt idx="2">
                  <c:v>8–14</c:v>
                </c:pt>
                <c:pt idx="3">
                  <c:v>15–21</c:v>
                </c:pt>
                <c:pt idx="4">
                  <c:v>22–30</c:v>
                </c:pt>
                <c:pt idx="5">
                  <c:v>31+ days</c:v>
                </c:pt>
              </c:strCache>
            </c:strRef>
          </c:cat>
          <c:val>
            <c:numRef>
              <c:f>Sheet1!$B$2:$B$7</c:f>
              <c:numCache>
                <c:formatCode>General</c:formatCode>
                <c:ptCount val="6"/>
                <c:pt idx="0">
                  <c:v>20.2</c:v>
                </c:pt>
                <c:pt idx="1">
                  <c:v>22.3</c:v>
                </c:pt>
                <c:pt idx="2">
                  <c:v>26.7</c:v>
                </c:pt>
                <c:pt idx="3">
                  <c:v>32.6</c:v>
                </c:pt>
                <c:pt idx="4">
                  <c:v>40.700000000000003</c:v>
                </c:pt>
                <c:pt idx="5">
                  <c:v>54.3</c:v>
                </c:pt>
              </c:numCache>
            </c:numRef>
          </c:val>
          <c:extLst>
            <c:ext xmlns:c16="http://schemas.microsoft.com/office/drawing/2014/chart" uri="{C3380CC4-5D6E-409C-BE32-E72D297353CC}">
              <c16:uniqueId val="{00000000-FAEC-A549-944F-F9C962792F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lblOffset val="100"/>
        <c:noMultiLvlLbl val="1"/>
      </c:catAx>
      <c:valAx>
        <c:axId val="2094734552"/>
        <c:scaling>
          <c:orientation val="minMax"/>
          <c:max val="6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6594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Symbol"/>
              <a:buChar char="•"/>
            </a:pPr>
            <a:r>
              <a:rPr lang="en-US">
                <a:highlight>
                  <a:srgbClr val="FFFFFF"/>
                </a:highlight>
              </a:rPr>
              <a:t>Lets start with a simple scenario </a:t>
            </a:r>
            <a:endParaRPr lang="en-GB">
              <a:highlight>
                <a:srgbClr val="C6C6C6"/>
              </a:highlight>
            </a:endParaRPr>
          </a:p>
          <a:p>
            <a:pPr marL="171450" indent="-171450">
              <a:buFont typeface="Symbol"/>
              <a:buChar char="•"/>
            </a:pPr>
            <a:r>
              <a:rPr lang="en-US">
                <a:highlight>
                  <a:srgbClr val="FFFFFF"/>
                </a:highlight>
              </a:rPr>
              <a:t>Stephen, for example, goes to get his morning coffee. After waiting in line for 15 minutes, he finally orders his oat milk latte, it's exactly what he needs to his pick me up</a:t>
            </a:r>
            <a:endParaRPr lang="en-GB">
              <a:highlight>
                <a:srgbClr val="C6C6C6"/>
              </a:highlight>
            </a:endParaRPr>
          </a:p>
          <a:p>
            <a:pPr marL="171450" indent="-171450">
              <a:buFont typeface="Symbol"/>
              <a:buChar char="•"/>
            </a:pPr>
            <a:r>
              <a:rPr lang="en-US">
                <a:highlight>
                  <a:srgbClr val="FFFFFF"/>
                </a:highlight>
              </a:rPr>
              <a:t>He waits another 5 minutes for his coffee, ok it’s a little slow, but what can you do?</a:t>
            </a:r>
            <a:endParaRPr lang="en-GB">
              <a:highlight>
                <a:srgbClr val="C6C6C6"/>
              </a:highlight>
            </a:endParaRPr>
          </a:p>
          <a:p>
            <a:pPr marL="171450" indent="-171450">
              <a:buFont typeface="Symbol"/>
              <a:buChar char="•"/>
            </a:pPr>
            <a:r>
              <a:rPr lang="en-US">
                <a:highlight>
                  <a:srgbClr val="FFFFFF"/>
                </a:highlight>
              </a:rPr>
              <a:t>Finally, after waiting for 20 minutes, Stephen gets his latte</a:t>
            </a:r>
            <a:endParaRPr lang="en-GB">
              <a:highlight>
                <a:srgbClr val="C6C6C6"/>
              </a:highlight>
            </a:endParaRPr>
          </a:p>
          <a:p>
            <a:pPr marL="171450" indent="-171450">
              <a:buFont typeface="Symbol"/>
              <a:buChar char="•"/>
            </a:pPr>
            <a:r>
              <a:rPr lang="en-US">
                <a:highlight>
                  <a:srgbClr val="FFFFFF"/>
                </a:highlight>
              </a:rPr>
              <a:t>Uh oh, its almond milk... </a:t>
            </a:r>
            <a:endParaRPr lang="en-GB">
              <a:highlight>
                <a:srgbClr val="C6C6C6"/>
              </a:highlight>
            </a:endParaRPr>
          </a:p>
          <a:p>
            <a:pPr marL="171450" indent="-171450">
              <a:buFont typeface="Symbol"/>
              <a:buChar char="•"/>
            </a:pPr>
            <a:r>
              <a:rPr lang="en-US">
                <a:highlight>
                  <a:srgbClr val="FFFFFF"/>
                </a:highlight>
              </a:rPr>
              <a:t>Stephen, frustrated and with a ruined afternoon, decides to leave a review documenting his experience asking for a response from the cafe</a:t>
            </a:r>
            <a:endParaRPr lang="en-GB">
              <a:highlight>
                <a:srgbClr val="C6C6C6"/>
              </a:highlight>
            </a:endParaRPr>
          </a:p>
          <a:p>
            <a:pPr marL="171450" indent="-171450">
              <a:buFont typeface="Symbol"/>
              <a:buChar char="•"/>
            </a:pPr>
            <a:r>
              <a:rPr lang="en-US">
                <a:highlight>
                  <a:srgbClr val="FFFFFF"/>
                </a:highlight>
              </a:rPr>
              <a:t>A week goes by, Stephen hears nothing, he feels like his complaint wasn’t heard</a:t>
            </a:r>
            <a:endParaRPr lang="en-GB">
              <a:highlight>
                <a:srgbClr val="C6C6C6"/>
              </a:highlight>
            </a:endParaRPr>
          </a:p>
          <a:p>
            <a:pPr marL="171450" indent="-171450">
              <a:buFont typeface="Symbol"/>
              <a:buChar char="•"/>
            </a:pPr>
            <a:r>
              <a:rPr lang="en-US">
                <a:highlight>
                  <a:srgbClr val="FFFFFF"/>
                </a:highlight>
              </a:rPr>
              <a:t>A week goes by, Stephen wants a coffee again, but this time he decides to go to another cafe </a:t>
            </a:r>
            <a:endParaRPr lang="en-GB">
              <a:highlight>
                <a:srgbClr val="C6C6C6"/>
              </a:highlight>
            </a:endParaRPr>
          </a:p>
          <a:p>
            <a:pPr marL="171450" indent="-171450">
              <a:buFont typeface="Symbol"/>
              <a:buChar char="•"/>
            </a:pPr>
            <a:r>
              <a:rPr lang="en-US">
                <a:highlight>
                  <a:srgbClr val="FFFFFF"/>
                </a:highlight>
              </a:rPr>
              <a:t>Multiply this by every disappointed customer the cafe has. By two months, their foot traffic is down significantly and business is worse than ever </a:t>
            </a:r>
            <a:endParaRPr lang="en-GB">
              <a:highlight>
                <a:srgbClr val="C6C6C6"/>
              </a:highlight>
            </a:endParaRPr>
          </a:p>
          <a:p>
            <a:pPr marL="171450" indent="-171450">
              <a:buFont typeface="Symbol"/>
              <a:buChar char="•"/>
            </a:pPr>
            <a:endParaRPr lang="en-US">
              <a:solidFill>
                <a:srgbClr val="000000"/>
              </a:solidFill>
              <a:highlight>
                <a:srgbClr val="FFFFFF"/>
              </a:highlight>
            </a:endParaRPr>
          </a:p>
          <a:p>
            <a:pPr>
              <a:buFont typeface="Arial"/>
              <a:buChar char="•"/>
            </a:pPr>
            <a:r>
              <a:rPr lang="en-US">
                <a:solidFill>
                  <a:srgbClr val="000000"/>
                </a:solidFill>
                <a:highlight>
                  <a:srgbClr val="EAEEFF"/>
                </a:highlight>
              </a:rPr>
              <a:t>imagine</a:t>
            </a:r>
            <a:r>
              <a:rPr lang="en-US">
                <a:solidFill>
                  <a:srgbClr val="000000"/>
                </a:solidFill>
                <a:highlight>
                  <a:srgbClr val="FFFFFF"/>
                </a:highlight>
              </a:rPr>
              <a:t> that happening in a hospital with thousands of patients, hundreds of departments, and years of feedback.</a:t>
            </a:r>
            <a:endParaRPr lang="en-US">
              <a:solidFill>
                <a:srgbClr val="000000"/>
              </a:solidFill>
              <a:highlight>
                <a:srgbClr val="C6C6C6"/>
              </a:highlight>
            </a:endParaRPr>
          </a:p>
          <a:p>
            <a:pPr>
              <a:buFont typeface="Arial"/>
              <a:buChar char="•"/>
            </a:pPr>
            <a:r>
              <a:rPr lang="en-US">
                <a:solidFill>
                  <a:srgbClr val="000000"/>
                </a:solidFill>
                <a:highlight>
                  <a:srgbClr val="FFFFFF"/>
                </a:highlight>
              </a:rPr>
              <a:t>Every day, patients like this submit feedback about their experience to </a:t>
            </a:r>
            <a:r>
              <a:rPr lang="en-US" err="1">
                <a:solidFill>
                  <a:srgbClr val="000000"/>
                </a:solidFill>
                <a:highlight>
                  <a:srgbClr val="FFFFFF"/>
                </a:highlight>
              </a:rPr>
              <a:t>Medcore</a:t>
            </a:r>
            <a:r>
              <a:rPr lang="en-US">
                <a:solidFill>
                  <a:srgbClr val="000000"/>
                </a:solidFill>
                <a:highlight>
                  <a:srgbClr val="FFFFFF"/>
                </a:highlight>
              </a:rPr>
              <a:t>. </a:t>
            </a:r>
            <a:endParaRPr lang="en-US">
              <a:solidFill>
                <a:srgbClr val="000000"/>
              </a:solidFill>
              <a:highlight>
                <a:srgbClr val="C6C6C6"/>
              </a:highlight>
            </a:endParaRPr>
          </a:p>
          <a:p>
            <a:pPr>
              <a:buFont typeface="Arial"/>
              <a:buChar char="•"/>
            </a:pPr>
            <a:endParaRPr lang="en-US">
              <a:solidFill>
                <a:srgbClr val="000000"/>
              </a:solidFill>
              <a:highlight>
                <a:srgbClr val="C6C6C6"/>
              </a:highlight>
            </a:endParaRPr>
          </a:p>
          <a:p>
            <a:pPr>
              <a:buFont typeface="Arial"/>
              <a:buChar char="•"/>
            </a:pPr>
            <a:r>
              <a:rPr lang="en-US">
                <a:solidFill>
                  <a:srgbClr val="000000"/>
                </a:solidFill>
                <a:highlight>
                  <a:srgbClr val="FFFFFF"/>
                </a:highlight>
              </a:rPr>
              <a:t>Maybe they felt like their wait time was too long, maybe they felt ignored. </a:t>
            </a:r>
            <a:endParaRPr lang="en-US">
              <a:solidFill>
                <a:srgbClr val="000000"/>
              </a:solidFill>
              <a:highlight>
                <a:srgbClr val="C6C6C6"/>
              </a:highlight>
            </a:endParaRPr>
          </a:p>
          <a:p>
            <a:pPr>
              <a:buFont typeface="Arial"/>
              <a:buChar char="•"/>
            </a:pPr>
            <a:r>
              <a:rPr lang="en-US">
                <a:solidFill>
                  <a:srgbClr val="000000"/>
                </a:solidFill>
                <a:highlight>
                  <a:srgbClr val="FFFFFF"/>
                </a:highlight>
              </a:rPr>
              <a:t>but before anyone ever sees it, it's buried under almost 300,000 other responses.  </a:t>
            </a:r>
            <a:endParaRPr lang="en-US">
              <a:solidFill>
                <a:srgbClr val="000000"/>
              </a:solidFill>
              <a:highlight>
                <a:srgbClr val="C6C6C6"/>
              </a:highlight>
            </a:endParaRPr>
          </a:p>
          <a:p>
            <a:pPr>
              <a:buFont typeface="Arial"/>
              <a:buChar char="•"/>
            </a:pPr>
            <a:r>
              <a:rPr lang="en-US">
                <a:solidFill>
                  <a:srgbClr val="000000"/>
                </a:solidFill>
                <a:highlight>
                  <a:srgbClr val="FFFFFF"/>
                </a:highlight>
              </a:rPr>
              <a:t>And Around 38.6% of those responses already have  been flagged at-risk, meaning these patients may have had a bad experience and are at risk of disengagement. </a:t>
            </a:r>
            <a:endParaRPr lang="en-US">
              <a:solidFill>
                <a:srgbClr val="000000"/>
              </a:solidFill>
              <a:highlight>
                <a:srgbClr val="C6C6C6"/>
              </a:highlight>
            </a:endParaRPr>
          </a:p>
          <a:p>
            <a:pPr>
              <a:buFont typeface="Arial"/>
              <a:buChar char="•"/>
            </a:pPr>
            <a:r>
              <a:rPr lang="en-US">
                <a:solidFill>
                  <a:srgbClr val="000000"/>
                </a:solidFill>
                <a:highlight>
                  <a:srgbClr val="FFFFFF"/>
                </a:highlight>
              </a:rPr>
              <a:t>That’s more than one in every three patients whose experiences may not have been addressed.</a:t>
            </a:r>
            <a:endParaRPr lang="en-US">
              <a:solidFill>
                <a:srgbClr val="000000"/>
              </a:solidFill>
              <a:highlight>
                <a:srgbClr val="C6C6C6"/>
              </a:highlight>
            </a:endParaRPr>
          </a:p>
          <a:p>
            <a:pPr>
              <a:buFont typeface="Arial"/>
              <a:buChar char="•"/>
            </a:pPr>
            <a:endParaRPr lang="en-US">
              <a:solidFill>
                <a:srgbClr val="000000"/>
              </a:solidFill>
              <a:highlight>
                <a:srgbClr val="C6C6C6"/>
              </a:highlight>
            </a:endParaRPr>
          </a:p>
          <a:p>
            <a:pPr>
              <a:buFont typeface="Arial"/>
              <a:buChar char="•"/>
            </a:pPr>
            <a:endParaRPr lang="en-US">
              <a:solidFill>
                <a:srgbClr val="000000"/>
              </a:solidFill>
              <a:highlight>
                <a:srgbClr val="C6C6C6"/>
              </a:highlight>
            </a:endParaRPr>
          </a:p>
          <a:p>
            <a:pPr>
              <a:buFont typeface="Arial"/>
              <a:buChar char="•"/>
            </a:pPr>
            <a:r>
              <a:rPr lang="en-US">
                <a:solidFill>
                  <a:srgbClr val="000000"/>
                </a:solidFill>
                <a:highlight>
                  <a:srgbClr val="FFFFFF"/>
                </a:highlight>
              </a:rPr>
              <a:t>So we wanted to show you what that actually looks like.  </a:t>
            </a:r>
            <a:endParaRPr lang="en-US">
              <a:solidFill>
                <a:srgbClr val="000000"/>
              </a:solidFill>
              <a:highlight>
                <a:srgbClr val="C6C6C6"/>
              </a:highlight>
            </a:endParaRPr>
          </a:p>
          <a:p>
            <a:pPr marL="171450" indent="-171450">
              <a:buFont typeface="Symbol"/>
              <a:buChar char="•"/>
            </a:pPr>
            <a:endParaRPr lang="en-US">
              <a:solidFill>
                <a:srgbClr val="000000"/>
              </a:solidFill>
              <a:highlight>
                <a:srgbClr val="FFFFFF"/>
              </a:highlight>
            </a:endParaRPr>
          </a:p>
          <a:p>
            <a:endParaRPr lang="en-GB">
              <a:solidFill>
                <a:srgbClr val="2E74B5"/>
              </a:solidFill>
              <a:highlight>
                <a:srgbClr val="C6C6C6"/>
              </a:highlight>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highlight>
                  <a:srgbClr val="EAEEFF"/>
                </a:highlight>
              </a:rPr>
              <a:t>That</a:t>
            </a:r>
            <a:r>
              <a:rPr lang="en-US"/>
              <a:t> card at the bottom you just saw, that's a real patient, a real experience. </a:t>
            </a:r>
          </a:p>
          <a:p>
            <a:r>
              <a:rPr lang="en-US"/>
              <a:t>Their feedback is still in the system, But without the right tools, it's likely to go unseen </a:t>
            </a:r>
            <a:endParaRPr lang="en-US">
              <a:highlight>
                <a:srgbClr val="C6C6C6"/>
              </a:highlight>
            </a:endParaRPr>
          </a:p>
          <a:p>
            <a:r>
              <a:rPr lang="en-US"/>
              <a:t>the </a:t>
            </a:r>
            <a:r>
              <a:rPr lang="en-US" err="1"/>
              <a:t>realtiy</a:t>
            </a:r>
            <a:r>
              <a:rPr lang="en-US"/>
              <a:t> is, patients rarely </a:t>
            </a:r>
            <a:r>
              <a:rPr lang="en-US" err="1"/>
              <a:t>vocie</a:t>
            </a:r>
            <a:r>
              <a:rPr lang="en-US"/>
              <a:t> the same concern twice. They simply stop coming back.</a:t>
            </a:r>
            <a:endParaRPr lang="en-US">
              <a:highlight>
                <a:srgbClr val="C6C6C6"/>
              </a:highlight>
            </a:endParaRPr>
          </a:p>
          <a:p>
            <a:r>
              <a:rPr lang="en-US"/>
              <a:t>In fact, we found </a:t>
            </a:r>
            <a:r>
              <a:rPr lang="en-US" i="1"/>
              <a:t>At-Risk</a:t>
            </a:r>
            <a:r>
              <a:rPr lang="en-US"/>
              <a:t> patients are actually </a:t>
            </a:r>
            <a:r>
              <a:rPr lang="en-US" b="1"/>
              <a:t>6.1× more likely</a:t>
            </a:r>
            <a:r>
              <a:rPr lang="en-US"/>
              <a:t> to miss their next appointment.</a:t>
            </a:r>
            <a:endParaRPr lang="en-US">
              <a:highlight>
                <a:srgbClr val="C6C6C6"/>
              </a:highlight>
            </a:endParaRPr>
          </a:p>
          <a:p>
            <a:endParaRPr lang="en-US">
              <a:highlight>
                <a:srgbClr val="C6C6C6"/>
              </a:highlight>
            </a:endParaRPr>
          </a:p>
          <a:p>
            <a:endParaRPr lang="en-US">
              <a:latin typeface="Calibri"/>
              <a:ea typeface="Calibri"/>
              <a:cs typeface="Calibri"/>
            </a:endParaRPr>
          </a:p>
        </p:txBody>
      </p:sp>
    </p:spTree>
    <p:extLst>
      <p:ext uri="{BB962C8B-B14F-4D97-AF65-F5344CB8AC3E}">
        <p14:creationId xmlns:p14="http://schemas.microsoft.com/office/powerpoint/2010/main" val="479896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consulting team spent the last few weeks analyzing  </a:t>
            </a:r>
            <a:r>
              <a:rPr lang="en-US" err="1"/>
              <a:t>MedCore's</a:t>
            </a:r>
            <a:r>
              <a:rPr lang="en-US"/>
              <a:t> Patient Experience data. </a:t>
            </a:r>
            <a:endParaRPr lang="en-US">
              <a:highlight>
                <a:srgbClr val="C6C6C6"/>
              </a:highlight>
            </a:endParaRPr>
          </a:p>
          <a:p>
            <a:r>
              <a:rPr lang="en-US"/>
              <a:t>We are not here today to prove to you that some </a:t>
            </a:r>
            <a:r>
              <a:rPr lang="en-US" err="1"/>
              <a:t>pateitns</a:t>
            </a:r>
            <a:r>
              <a:rPr lang="en-US"/>
              <a:t> are unhappy. </a:t>
            </a:r>
            <a:endParaRPr lang="en-US">
              <a:highlight>
                <a:srgbClr val="C6C6C6"/>
              </a:highlight>
            </a:endParaRPr>
          </a:p>
          <a:p>
            <a:r>
              <a:rPr lang="en-US"/>
              <a:t>We're here to tell you why, what it's costing you, and show how AI can help turn patient feedback into </a:t>
            </a:r>
            <a:r>
              <a:rPr lang="en-US" err="1"/>
              <a:t>aciton</a:t>
            </a:r>
            <a:r>
              <a:rPr lang="en-US"/>
              <a:t>. </a:t>
            </a:r>
            <a:endParaRPr lang="en-US">
              <a:highlight>
                <a:srgbClr val="C6C6C6"/>
              </a:highlight>
            </a:endParaRPr>
          </a:p>
          <a:p>
            <a:endParaRPr lang="en-US">
              <a:highlight>
                <a:srgbClr val="C6C6C6"/>
              </a:highlight>
            </a:endParaRPr>
          </a:p>
          <a:p>
            <a:r>
              <a:rPr lang="en-US">
                <a:highlight>
                  <a:srgbClr val="EAEEFF"/>
                </a:highlight>
              </a:rPr>
              <a:t>So</a:t>
            </a:r>
            <a:r>
              <a:rPr lang="en-US"/>
              <a:t> let's start with the problem: put simply, patients are leaving dissatisfied and not coming back, costing </a:t>
            </a:r>
            <a:r>
              <a:rPr lang="en-US" err="1"/>
              <a:t>Medcore</a:t>
            </a:r>
            <a:r>
              <a:rPr lang="en-US"/>
              <a:t> a lot of money. </a:t>
            </a:r>
            <a:endParaRPr lang="en-US">
              <a:highlight>
                <a:srgbClr val="C6C6C6"/>
              </a:highlight>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Building on that, we looked more closely at what might be driving this issue, and a couple of key patterns emerged.</a:t>
            </a:r>
          </a:p>
          <a:p>
            <a:r>
              <a:rPr lang="en-US" b="1"/>
              <a:t>The first thing we found is that this is not a short-term issue.</a:t>
            </a:r>
            <a:br>
              <a:rPr lang="en-US" b="1"/>
            </a:br>
            <a:r>
              <a:rPr lang="en-US" b="1"/>
              <a:t>The At-Risk rate has remained essentially flat for three years, which suggests this is a structural challenge rather than a temporary fluctuation. The factors contributing to patient disengagement appear to be persistent over time.</a:t>
            </a:r>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Looking more closely, we found significant variation across departments.</a:t>
            </a:r>
          </a:p>
          <a:p>
            <a:r>
              <a:rPr lang="en-US"/>
              <a:t>At-Risk rates range from 20.5% to 57.9% — nearly a threefold difference. That gap points to differences in practice, including scheduling, staffing, and provider interactions. It also shows improvement is possible, because some departments are already performing much better than others.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From there, we looked for the factor that had the strongest relationship with patient risk, and booking delay stood out as the clearest driver.</a:t>
            </a:r>
            <a:br>
              <a:rPr lang="en-US" b="1"/>
            </a:br>
            <a:r>
              <a:rPr lang="en-US" b="1"/>
              <a:t>The longer patients wait to be seen, the higher their likelihood of becoming At-Risk. Rates increase from 20.2% for patients seen within 3 days, to 54.3% for patients waiting 31 days or more — a 2.7x increase. This pattern is consistent across every wait-time group.</a:t>
            </a:r>
            <a:endParaRPr lang="en-US">
              <a:solidFill>
                <a:srgbClr val="444444"/>
              </a:solidFill>
            </a:endParaRPr>
          </a:p>
          <a:p>
            <a:endParaRPr lang="en-US">
              <a:solidFill>
                <a:srgbClr val="444444"/>
              </a:solidFill>
            </a:endParaRPr>
          </a:p>
          <a:p>
            <a:endParaRPr lang="en-US">
              <a:solidFill>
                <a:srgbClr val="444444"/>
              </a:solidFill>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Looking at the financial impact, </a:t>
            </a:r>
          </a:p>
          <a:p>
            <a:endParaRPr lang="en-CA"/>
          </a:p>
          <a:p>
            <a:r>
              <a:rPr lang="en-CA"/>
              <a:t>At-Risk patients miss future appointments much more often than satisfied patients—23.2% compared to just 3.8%, or about six times more often. </a:t>
            </a:r>
          </a:p>
          <a:p>
            <a:endParaRPr lang="en-CA"/>
          </a:p>
          <a:p>
            <a:r>
              <a:rPr lang="en-CA"/>
              <a:t>Using </a:t>
            </a:r>
            <a:r>
              <a:rPr lang="en-CA" err="1"/>
              <a:t>MedCore's</a:t>
            </a:r>
            <a:r>
              <a:rPr lang="en-CA"/>
              <a:t> billing data, we estimated the extra no-shows caused specifically by patient dissatisfaction. That adds up to about $4.4 million in lost revenue every year, or $13.3 million over the three years in our dataset.</a:t>
            </a:r>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At-Risk</a:t>
            </a:r>
            <a:r>
              <a:rPr lang="en-US" sz="1200" b="0" i="0" kern="1200">
                <a:solidFill>
                  <a:schemeClr val="tx1"/>
                </a:solidFill>
                <a:effectLst/>
                <a:latin typeface="+mn-lt"/>
                <a:ea typeface="+mn-ea"/>
                <a:cs typeface="+mn-cs"/>
              </a:rPr>
              <a:t> is </a:t>
            </a:r>
            <a:r>
              <a:rPr lang="en-US" sz="1200" b="1" i="0" kern="1200">
                <a:solidFill>
                  <a:schemeClr val="tx1"/>
                </a:solidFill>
                <a:effectLst/>
                <a:latin typeface="+mn-lt"/>
                <a:ea typeface="+mn-ea"/>
                <a:cs typeface="+mn-cs"/>
              </a:rPr>
              <a:t>defined by rating (≤3)</a:t>
            </a:r>
            <a:r>
              <a:rPr lang="en-US" sz="1200" b="0" i="0" kern="1200">
                <a:solidFill>
                  <a:schemeClr val="tx1"/>
                </a:solidFill>
                <a:effectLst/>
                <a:latin typeface="+mn-lt"/>
                <a:ea typeface="+mn-ea"/>
                <a:cs typeface="+mn-cs"/>
              </a:rPr>
              <a:t>. </a:t>
            </a:r>
          </a:p>
          <a:p>
            <a:endParaRPr lang="en-US"/>
          </a:p>
          <a:p>
            <a:r>
              <a:rPr lang="en-US" sz="1200" b="0" i="0" kern="1200">
                <a:solidFill>
                  <a:schemeClr val="tx1"/>
                </a:solidFill>
                <a:effectLst/>
                <a:latin typeface="+mn-lt"/>
                <a:ea typeface="+mn-ea"/>
                <a:cs typeface="+mn-cs"/>
              </a:rPr>
              <a:t>AI focuses on </a:t>
            </a:r>
            <a:r>
              <a:rPr lang="en-US" sz="1200" b="1" i="0" kern="1200">
                <a:solidFill>
                  <a:schemeClr val="tx1"/>
                </a:solidFill>
                <a:effectLst/>
                <a:latin typeface="+mn-lt"/>
                <a:ea typeface="+mn-ea"/>
                <a:cs typeface="+mn-cs"/>
              </a:rPr>
              <a:t>two valuable tasks:</a:t>
            </a:r>
          </a:p>
          <a:p>
            <a:pPr marL="171450" indent="-171450">
              <a:buFontTx/>
              <a:buChar char="-"/>
            </a:pPr>
            <a:r>
              <a:rPr lang="en-US" sz="1200" b="0" i="0" kern="1200">
                <a:solidFill>
                  <a:schemeClr val="tx1"/>
                </a:solidFill>
                <a:effectLst/>
                <a:latin typeface="+mn-lt"/>
                <a:ea typeface="+mn-ea"/>
                <a:cs typeface="+mn-cs"/>
              </a:rPr>
              <a:t>Understand </a:t>
            </a:r>
            <a:r>
              <a:rPr lang="en-US" sz="1200" b="1" i="0" kern="1200">
                <a:solidFill>
                  <a:schemeClr val="tx1"/>
                </a:solidFill>
                <a:effectLst/>
                <a:latin typeface="+mn-lt"/>
                <a:ea typeface="+mn-ea"/>
                <a:cs typeface="+mn-cs"/>
              </a:rPr>
              <a:t>why</a:t>
            </a:r>
            <a:r>
              <a:rPr lang="en-US" sz="1200" b="0" i="0" kern="1200">
                <a:solidFill>
                  <a:schemeClr val="tx1"/>
                </a:solidFill>
                <a:effectLst/>
                <a:latin typeface="+mn-lt"/>
                <a:ea typeface="+mn-ea"/>
                <a:cs typeface="+mn-cs"/>
              </a:rPr>
              <a:t> patients are dissatisfied (analyze comments). </a:t>
            </a:r>
            <a:r>
              <a:rPr lang="en-CA" sz="1200" b="0" i="0" kern="1200">
                <a:solidFill>
                  <a:schemeClr val="tx1"/>
                </a:solidFill>
                <a:effectLst/>
                <a:latin typeface="+mn-lt"/>
                <a:ea typeface="+mn-ea"/>
                <a:cs typeface="+mn-cs"/>
              </a:rPr>
              <a:t> </a:t>
            </a:r>
            <a:endParaRPr lang="en-CA" sz="1200" b="0" i="0" kern="1200">
              <a:solidFill>
                <a:schemeClr val="tx1"/>
              </a:solidFill>
              <a:effectLst/>
              <a:latin typeface="+mn-lt"/>
            </a:endParaRPr>
          </a:p>
          <a:p>
            <a:pPr marL="171450" indent="-171450">
              <a:buFontTx/>
              <a:buChar char="-"/>
            </a:pPr>
            <a:r>
              <a:rPr lang="en-US" sz="1200" b="0" i="0" kern="1200">
                <a:solidFill>
                  <a:schemeClr val="tx1"/>
                </a:solidFill>
                <a:effectLst/>
                <a:latin typeface="+mn-lt"/>
                <a:ea typeface="+mn-ea"/>
                <a:cs typeface="+mn-cs"/>
              </a:rPr>
              <a:t>Predict </a:t>
            </a:r>
            <a:r>
              <a:rPr lang="en-US" sz="1200" b="1" i="0" kern="1200">
                <a:solidFill>
                  <a:schemeClr val="tx1"/>
                </a:solidFill>
                <a:effectLst/>
                <a:latin typeface="+mn-lt"/>
                <a:ea typeface="+mn-ea"/>
                <a:cs typeface="+mn-cs"/>
              </a:rPr>
              <a:t>at-risk patients before their visit</a:t>
            </a:r>
            <a:r>
              <a:rPr lang="en-US" sz="1200" b="0" i="0" kern="1200">
                <a:solidFill>
                  <a:schemeClr val="tx1"/>
                </a:solidFill>
                <a:effectLst/>
                <a:latin typeface="+mn-lt"/>
                <a:ea typeface="+mn-ea"/>
                <a:cs typeface="+mn-cs"/>
              </a:rPr>
              <a:t> using booking information.</a:t>
            </a:r>
            <a:r>
              <a:rPr lang="en-CA" sz="1200" b="0" i="0" kern="1200">
                <a:solidFill>
                  <a:schemeClr val="tx1"/>
                </a:solidFill>
                <a:effectLst/>
                <a:latin typeface="+mn-lt"/>
                <a:ea typeface="+mn-ea"/>
                <a:cs typeface="+mn-cs"/>
              </a:rPr>
              <a:t> </a:t>
            </a:r>
            <a:endParaRPr lang="en-CA" sz="1200" b="0" i="0" kern="1200">
              <a:solidFill>
                <a:schemeClr val="tx1"/>
              </a:solidFill>
              <a:effectLst/>
              <a:latin typeface="+mn-l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solidFill>
                  <a:srgbClr val="FFFFFF"/>
                </a:solidFill>
                <a:latin typeface="Calibri" pitchFamily="34" charset="0"/>
                <a:ea typeface="Calibri" pitchFamily="34" charset="-122"/>
                <a:cs typeface="Calibri" pitchFamily="34" charset="-120"/>
              </a:rPr>
              <a:t>Since there is a 6.1x higher likelihood to no-show, we use ratings to predict the likelihood of a no-show</a:t>
            </a:r>
            <a:endParaRPr lang="en-US" sz="1200"/>
          </a:p>
          <a:p>
            <a:pPr marL="171450" indent="-171450">
              <a:buFontTx/>
              <a:buChar char="-"/>
            </a:pPr>
            <a:endParaRPr lang="en-CA" sz="1200" b="0" i="0" kern="1200">
              <a:solidFill>
                <a:schemeClr val="tx1"/>
              </a:solidFill>
              <a:effectLst/>
              <a:latin typeface="+mn-lt"/>
              <a:ea typeface="+mn-ea"/>
              <a:cs typeface="+mn-cs"/>
            </a:endParaRPr>
          </a:p>
          <a:p>
            <a:pPr marL="171450" indent="-171450">
              <a:buFontTx/>
              <a:buChar char="-"/>
            </a:pPr>
            <a:endParaRPr lang="en-CA" sz="1200" b="0" i="0" kern="1200">
              <a:solidFill>
                <a:schemeClr val="tx1"/>
              </a:solidFill>
              <a:effectLst/>
              <a:latin typeface="+mn-lt"/>
            </a:endParaRPr>
          </a:p>
          <a:p>
            <a:pPr marL="171450" indent="-171450">
              <a:buFont typeface="Arial"/>
              <a:buChar char="•"/>
            </a:pPr>
            <a:r>
              <a:rPr lang="en-CA"/>
              <a:t>logistic regression</a:t>
            </a:r>
          </a:p>
          <a:p>
            <a:pPr marL="171450" indent="-171450">
              <a:buFontTx/>
              <a:buChar char="-"/>
            </a:pPr>
            <a:endParaRPr lang="en-CA"/>
          </a:p>
          <a:p>
            <a:pPr marL="171450" indent="-171450">
              <a:buFont typeface="Arial"/>
              <a:buChar char="•"/>
            </a:pPr>
            <a:r>
              <a:rPr lang="en-US"/>
              <a:t>The risk model and no-show model (Tab 4) run through a </a:t>
            </a:r>
            <a:r>
              <a:rPr lang="en-US" err="1"/>
              <a:t>ColumnTransformer</a:t>
            </a:r>
            <a:r>
              <a:rPr lang="en-US"/>
              <a:t> first — numeric features get standardized (rescaled to mean 0, unit variance, so a feature measured in the thousands like </a:t>
            </a:r>
            <a:r>
              <a:rPr lang="en-US" err="1"/>
              <a:t>annual_budget</a:t>
            </a:r>
            <a:r>
              <a:rPr lang="en-US"/>
              <a:t> doesn't dominate the fit</a:t>
            </a:r>
          </a:p>
          <a:p>
            <a:pPr marL="171450" indent="-171450">
              <a:buFont typeface="Arial"/>
              <a:buChar char="•"/>
            </a:pPr>
            <a:endParaRPr lang="en-US"/>
          </a:p>
          <a:p>
            <a:pPr marL="171450" indent="-171450">
              <a:buFont typeface="Arial"/>
              <a:buChar char="•"/>
            </a:pPr>
            <a:r>
              <a:rPr lang="en-US"/>
              <a:t>logistic regression assumes a fairly smooth, additive relationship between features and the log-odds of the outcome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base">
              <a:buFont typeface="Arial" panose="020B0604020202020204" pitchFamily="34" charset="0"/>
              <a:buChar char="•"/>
            </a:pPr>
            <a:r>
              <a:rPr lang="en-US" sz="1200" b="1" i="0" kern="1200">
                <a:solidFill>
                  <a:schemeClr val="tx1"/>
                </a:solidFill>
                <a:effectLst/>
                <a:latin typeface="+mn-lt"/>
                <a:ea typeface="+mn-ea"/>
                <a:cs typeface="+mn-cs"/>
              </a:rPr>
              <a:t>$4.4M/year</a:t>
            </a:r>
            <a:r>
              <a:rPr lang="en-US" sz="1200" b="0" i="0" kern="1200">
                <a:solidFill>
                  <a:schemeClr val="tx1"/>
                </a:solidFill>
                <a:effectLst/>
                <a:latin typeface="+mn-lt"/>
                <a:ea typeface="+mn-ea"/>
                <a:cs typeface="+mn-cs"/>
              </a:rPr>
              <a:t> could be recovered by reducing no-shows caused by dissatisfaction. </a:t>
            </a:r>
          </a:p>
          <a:p>
            <a:pPr marL="171450" indent="-171450" rtl="0" fontAlgn="base">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Managers can catch problems </a:t>
            </a:r>
            <a:r>
              <a:rPr lang="en-US" sz="1200" b="1" i="0" kern="1200">
                <a:solidFill>
                  <a:schemeClr val="tx1"/>
                </a:solidFill>
                <a:effectLst/>
                <a:latin typeface="+mn-lt"/>
                <a:ea typeface="+mn-ea"/>
                <a:cs typeface="+mn-cs"/>
              </a:rPr>
              <a:t>earlier</a:t>
            </a:r>
            <a:r>
              <a:rPr lang="en-US" sz="1200" b="0" i="0" kern="1200">
                <a:solidFill>
                  <a:schemeClr val="tx1"/>
                </a:solidFill>
                <a:effectLst/>
                <a:latin typeface="+mn-lt"/>
                <a:ea typeface="+mn-ea"/>
                <a:cs typeface="+mn-cs"/>
              </a:rPr>
              <a:t> instead of waiting for reports.  </a:t>
            </a:r>
          </a:p>
          <a:p>
            <a:pPr marL="171450" indent="-171450" rtl="0" fontAlgn="base">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rtl="0" fontAlgn="base">
              <a:buFont typeface="Arial" panose="020B0604020202020204" pitchFamily="34" charset="0"/>
              <a:buChar char="•"/>
            </a:pPr>
            <a:r>
              <a:rPr lang="en-CA"/>
              <a:t>Can prioritize scheduling improvements where they'll have the biggest impact. Model predicts which patients are at risk </a:t>
            </a:r>
            <a:r>
              <a:rPr lang="en-CA" b="1"/>
              <a:t>before their visit</a:t>
            </a:r>
            <a:r>
              <a:rPr lang="en-CA"/>
              <a:t>, so they can reach out beforehand or adjust scheduling.</a:t>
            </a:r>
          </a:p>
          <a:p>
            <a:pPr marL="171450" indent="-171450" rtl="0" fontAlgn="base">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rtl="0" fontAlgn="base">
              <a:buFont typeface="Arial" panose="020B0604020202020204" pitchFamily="34" charset="0"/>
              <a:buChar char="•"/>
            </a:pPr>
            <a:r>
              <a:rPr lang="en-US" sz="1200" b="0" i="0" kern="1200">
                <a:solidFill>
                  <a:schemeClr val="tx1"/>
                </a:solidFill>
                <a:effectLst/>
                <a:latin typeface="+mn-lt"/>
                <a:ea typeface="+mn-ea"/>
                <a:cs typeface="+mn-cs"/>
              </a:rPr>
              <a:t>No extra staff needed—the data already exists, just needs to be used.  </a:t>
            </a:r>
          </a:p>
          <a:p>
            <a:pPr marL="171450" indent="-171450" rtl="0" fontAlgn="base">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a:solidFill>
                  <a:schemeClr val="tx1"/>
                </a:solidFill>
                <a:effectLst/>
                <a:latin typeface="+mn-lt"/>
                <a:ea typeface="+mn-ea"/>
                <a:cs typeface="+mn-cs"/>
              </a:rPr>
              <a:t>7. Implementation Considerations - Haifa</a:t>
            </a:r>
            <a:r>
              <a:rPr lang="en-US" sz="1200" b="0" i="0" kern="1200">
                <a:solidFill>
                  <a:schemeClr val="tx1"/>
                </a:solidFill>
                <a:effectLst/>
                <a:latin typeface="+mn-lt"/>
                <a:ea typeface="+mn-ea"/>
                <a:cs typeface="+mn-cs"/>
              </a:rPr>
              <a:t> </a:t>
            </a:r>
          </a:p>
          <a:p>
            <a:pPr rtl="0" fontAlgn="base"/>
            <a:r>
              <a:rPr lang="en-US" sz="1200" b="0" i="0" kern="1200">
                <a:solidFill>
                  <a:schemeClr val="tx1"/>
                </a:solidFill>
                <a:effectLst/>
                <a:latin typeface="+mn-lt"/>
                <a:ea typeface="+mn-ea"/>
                <a:cs typeface="+mn-cs"/>
              </a:rPr>
              <a:t>AI needs </a:t>
            </a:r>
            <a:r>
              <a:rPr lang="en-US" sz="1200" b="1" i="0" kern="1200">
                <a:solidFill>
                  <a:schemeClr val="tx1"/>
                </a:solidFill>
                <a:effectLst/>
                <a:latin typeface="+mn-lt"/>
                <a:ea typeface="+mn-ea"/>
                <a:cs typeface="+mn-cs"/>
              </a:rPr>
              <a:t>more patient comments</a:t>
            </a:r>
            <a:r>
              <a:rPr lang="en-US" sz="1200" b="0" i="0" kern="1200">
                <a:solidFill>
                  <a:schemeClr val="tx1"/>
                </a:solidFill>
                <a:effectLst/>
                <a:latin typeface="+mn-lt"/>
                <a:ea typeface="+mn-ea"/>
                <a:cs typeface="+mn-cs"/>
              </a:rPr>
              <a:t> (especially for Wait Time) before classifying new feedback well.  </a:t>
            </a:r>
          </a:p>
          <a:p>
            <a:endParaRPr lang="en-US"/>
          </a:p>
          <a:p>
            <a:pPr fontAlgn="base"/>
            <a:r>
              <a:rPr lang="en-US" sz="1200" b="0" i="0" kern="1200">
                <a:solidFill>
                  <a:schemeClr val="tx1"/>
                </a:solidFill>
                <a:effectLst/>
                <a:latin typeface="+mn-lt"/>
                <a:ea typeface="+mn-ea"/>
                <a:cs typeface="+mn-cs"/>
              </a:rPr>
              <a:t>For now: </a:t>
            </a:r>
            <a:r>
              <a:rPr lang="en-US"/>
              <a:t>We can analyze</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feedback</a:t>
            </a:r>
            <a:r>
              <a:rPr lang="en-US" sz="1200" b="0" i="0" kern="1200">
                <a:solidFill>
                  <a:schemeClr val="tx1"/>
                </a:solidFill>
                <a:effectLst/>
                <a:latin typeface="+mn-lt"/>
                <a:ea typeface="+mn-ea"/>
                <a:cs typeface="+mn-cs"/>
              </a:rPr>
              <a:t> </a:t>
            </a:r>
            <a:r>
              <a:rPr lang="en-US"/>
              <a:t>but shouldn't use the model to auto-classify new feedback. At first, we will need to assign someone to monitor the dashboard and respond to feedback since the model is not fully trained yet.</a:t>
            </a:r>
            <a:endParaRPr lang="en-US" sz="1200" b="0" i="0" kern="1200">
              <a:solidFill>
                <a:schemeClr val="tx1"/>
              </a:solidFill>
              <a:effectLst/>
              <a:latin typeface="+mn-lt"/>
            </a:endParaRPr>
          </a:p>
          <a:p>
            <a:endParaRPr lang="en-US"/>
          </a:p>
          <a:p>
            <a:pPr rtl="0" fontAlgn="base"/>
            <a:r>
              <a:rPr lang="en-US" sz="1200" b="0" i="0" kern="1200">
                <a:solidFill>
                  <a:schemeClr val="tx1"/>
                </a:solidFill>
                <a:effectLst/>
                <a:latin typeface="+mn-lt"/>
                <a:ea typeface="+mn-ea"/>
                <a:cs typeface="+mn-cs"/>
              </a:rPr>
              <a:t>Start with a </a:t>
            </a:r>
            <a:r>
              <a:rPr lang="en-US" sz="1200" b="1" i="0" kern="1200">
                <a:solidFill>
                  <a:schemeClr val="tx1"/>
                </a:solidFill>
                <a:effectLst/>
                <a:latin typeface="+mn-lt"/>
                <a:ea typeface="+mn-ea"/>
                <a:cs typeface="+mn-cs"/>
              </a:rPr>
              <a:t>pilot</a:t>
            </a:r>
            <a:r>
              <a:rPr lang="en-US" sz="1200" b="0" i="0" kern="1200">
                <a:solidFill>
                  <a:schemeClr val="tx1"/>
                </a:solidFill>
                <a:effectLst/>
                <a:latin typeface="+mn-lt"/>
                <a:ea typeface="+mn-ea"/>
                <a:cs typeface="+mn-cs"/>
              </a:rPr>
              <a:t> in 2–3 departments, then expand.  </a:t>
            </a:r>
          </a:p>
          <a:p>
            <a:pPr rtl="0" fontAlgn="base"/>
            <a:r>
              <a:rPr lang="en-US" sz="1200" b="0" i="0" kern="1200">
                <a:solidFill>
                  <a:schemeClr val="tx1"/>
                </a:solidFill>
                <a:effectLst/>
                <a:latin typeface="+mn-lt"/>
                <a:ea typeface="+mn-ea"/>
                <a:cs typeface="+mn-cs"/>
              </a:rPr>
              <a:t> </a:t>
            </a:r>
            <a:endParaRPr lang="en-US" sz="1200" b="0" i="0" kern="1200">
              <a:solidFill>
                <a:schemeClr val="tx1"/>
              </a:solidFill>
              <a:effectLst/>
              <a:latin typeface="+mn-lt"/>
            </a:endParaRPr>
          </a:p>
          <a:p>
            <a:pPr rtl="0" fontAlgn="base"/>
            <a:r>
              <a:rPr lang="en-US" sz="1200" b="1" i="0" kern="1200">
                <a:solidFill>
                  <a:schemeClr val="tx1"/>
                </a:solidFill>
                <a:effectLst/>
                <a:latin typeface="+mn-lt"/>
                <a:ea typeface="+mn-ea"/>
                <a:cs typeface="+mn-cs"/>
              </a:rPr>
              <a:t>8. Future Opportunities - Haifa</a:t>
            </a:r>
            <a:r>
              <a:rPr lang="en-US" sz="1200" b="0" i="0" kern="1200">
                <a:solidFill>
                  <a:schemeClr val="tx1"/>
                </a:solidFill>
                <a:effectLst/>
                <a:latin typeface="+mn-lt"/>
                <a:ea typeface="+mn-ea"/>
                <a:cs typeface="+mn-cs"/>
              </a:rPr>
              <a:t> </a:t>
            </a:r>
            <a:endParaRPr lang="en-US" sz="1200" b="0" i="0" kern="1200">
              <a:solidFill>
                <a:schemeClr val="tx1"/>
              </a:solidFill>
              <a:effectLst/>
              <a:latin typeface="+mn-lt"/>
            </a:endParaRPr>
          </a:p>
          <a:p>
            <a:pPr rtl="0" fontAlgn="base"/>
            <a:r>
              <a:rPr lang="en-US" sz="1200" b="0" i="0" kern="1200">
                <a:solidFill>
                  <a:schemeClr val="tx1"/>
                </a:solidFill>
                <a:effectLst/>
                <a:latin typeface="+mn-lt"/>
                <a:ea typeface="+mn-ea"/>
                <a:cs typeface="+mn-cs"/>
              </a:rPr>
              <a:t>As more comments are collected, upgrade to a stronger AI model (LLM/embeddings).  </a:t>
            </a:r>
          </a:p>
          <a:p>
            <a:pPr rtl="0" fontAlgn="base"/>
            <a:r>
              <a:rPr lang="en-US" sz="1200" b="0" i="0" kern="1200">
                <a:solidFill>
                  <a:schemeClr val="tx1"/>
                </a:solidFill>
                <a:effectLst/>
                <a:latin typeface="+mn-lt"/>
                <a:ea typeface="+mn-ea"/>
                <a:cs typeface="+mn-cs"/>
              </a:rPr>
              <a:t>Send </a:t>
            </a:r>
            <a:r>
              <a:rPr lang="en-US" sz="1200" b="1" i="0" kern="1200">
                <a:solidFill>
                  <a:schemeClr val="tx1"/>
                </a:solidFill>
                <a:effectLst/>
                <a:latin typeface="+mn-lt"/>
                <a:ea typeface="+mn-ea"/>
                <a:cs typeface="+mn-cs"/>
              </a:rPr>
              <a:t>real-time alerts</a:t>
            </a:r>
            <a:r>
              <a:rPr lang="en-US" sz="1200" b="0" i="0" kern="1200">
                <a:solidFill>
                  <a:schemeClr val="tx1"/>
                </a:solidFill>
                <a:effectLst/>
                <a:latin typeface="+mn-lt"/>
                <a:ea typeface="+mn-ea"/>
                <a:cs typeface="+mn-cs"/>
              </a:rPr>
              <a:t> when complaints spike.  </a:t>
            </a:r>
          </a:p>
          <a:p>
            <a:pPr rtl="0" fontAlgn="base"/>
            <a:r>
              <a:rPr lang="en-US" sz="1200" b="0" i="0" kern="1200">
                <a:solidFill>
                  <a:schemeClr val="tx1"/>
                </a:solidFill>
                <a:effectLst/>
                <a:latin typeface="+mn-lt"/>
                <a:ea typeface="+mn-ea"/>
                <a:cs typeface="+mn-cs"/>
              </a:rPr>
              <a:t>Share best practices between high- and low-performing departments.  </a:t>
            </a:r>
          </a:p>
          <a:p>
            <a:pPr rtl="0" fontAlgn="base"/>
            <a:r>
              <a:rPr lang="en-US" sz="1200" b="0" i="0" kern="1200">
                <a:solidFill>
                  <a:schemeClr val="tx1"/>
                </a:solidFill>
                <a:effectLst/>
                <a:latin typeface="+mn-lt"/>
                <a:ea typeface="+mn-ea"/>
                <a:cs typeface="+mn-cs"/>
              </a:rPr>
              <a:t>Move from predicting risk to </a:t>
            </a:r>
            <a:r>
              <a:rPr lang="en-US" sz="1200" b="1" i="0" kern="1200">
                <a:solidFill>
                  <a:schemeClr val="tx1"/>
                </a:solidFill>
                <a:effectLst/>
                <a:latin typeface="+mn-lt"/>
                <a:ea typeface="+mn-ea"/>
                <a:cs typeface="+mn-cs"/>
              </a:rPr>
              <a:t>recommending scheduling improvements</a:t>
            </a:r>
            <a:r>
              <a:rPr lang="en-US" sz="1200" b="0" i="0" kern="1200">
                <a:solidFill>
                  <a:schemeClr val="tx1"/>
                </a:solidFill>
                <a:effectLst/>
                <a:latin typeface="+mn-lt"/>
                <a:ea typeface="+mn-ea"/>
                <a:cs typeface="+mn-cs"/>
              </a:rPr>
              <a:t> before patients become dissatisfied. </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At the beginning, we talked about a coffee shop.</a:t>
            </a:r>
            <a:endParaRPr lang="en-US">
              <a:highlight>
                <a:srgbClr val="C6C6C6"/>
              </a:highlight>
            </a:endParaRPr>
          </a:p>
          <a:p>
            <a:r>
              <a:rPr lang="en-US"/>
              <a:t>B: In a coffee shop, one experience can determine whether a customer comes back.</a:t>
            </a:r>
            <a:endParaRPr lang="en-US">
              <a:highlight>
                <a:srgbClr val="C6C6C6"/>
              </a:highlight>
            </a:endParaRPr>
          </a:p>
          <a:p>
            <a:r>
              <a:rPr lang="en-US"/>
              <a:t>A: In healthcare, that same idea applies. When a patient stops coming back, it’s a signal their concerns may have gone unheard.</a:t>
            </a:r>
            <a:endParaRPr lang="en-US">
              <a:highlight>
                <a:srgbClr val="C6C6C6"/>
              </a:highlight>
            </a:endParaRPr>
          </a:p>
          <a:p>
            <a:r>
              <a:rPr lang="en-US"/>
              <a:t>B: That’s why we built this tool: to make sure  feedback turns to action and actually improves the patient experience.</a:t>
            </a:r>
            <a:endParaRPr lang="en-US">
              <a:highlight>
                <a:srgbClr val="C6C6C6"/>
              </a:highlight>
            </a:endParaRPr>
          </a:p>
          <a:p>
            <a:r>
              <a:rPr lang="en-US"/>
              <a:t>A: Thank you. We’d be happy to answer any questions .</a:t>
            </a:r>
            <a:endParaRPr lang="en-US">
              <a:highlight>
                <a:srgbClr val="C6C6C6"/>
              </a:highlight>
            </a:endParaRPr>
          </a:p>
          <a:p>
            <a:endParaRPr lang="en-US">
              <a:solidFill>
                <a:srgbClr val="2E74B5"/>
              </a:solidFill>
              <a:highlight>
                <a:srgbClr val="C6C6C6"/>
              </a:highlight>
            </a:endParaRP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D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3D3D"/>
          </a:solidFill>
          <a:ln/>
        </p:spPr>
        <p:txBody>
          <a:bodyPr/>
          <a:lstStyle/>
          <a:p>
            <a:endParaRPr lang="en-US"/>
          </a:p>
        </p:txBody>
      </p:sp>
      <p:sp>
        <p:nvSpPr>
          <p:cNvPr id="3" name="Shape 1"/>
          <p:cNvSpPr/>
          <p:nvPr/>
        </p:nvSpPr>
        <p:spPr>
          <a:xfrm>
            <a:off x="9326880" y="-2011680"/>
            <a:ext cx="5486400" cy="5486400"/>
          </a:xfrm>
          <a:prstGeom prst="ellipse">
            <a:avLst/>
          </a:prstGeom>
          <a:solidFill>
            <a:srgbClr val="0F5C5C">
              <a:alpha val="60000"/>
            </a:srgbClr>
          </a:solidFill>
          <a:ln/>
        </p:spPr>
        <p:txBody>
          <a:bodyPr/>
          <a:lstStyle/>
          <a:p>
            <a:endParaRPr lang="en-US"/>
          </a:p>
        </p:txBody>
      </p:sp>
      <p:sp>
        <p:nvSpPr>
          <p:cNvPr id="4" name="Shape 2"/>
          <p:cNvSpPr/>
          <p:nvPr/>
        </p:nvSpPr>
        <p:spPr>
          <a:xfrm>
            <a:off x="-2286000" y="4389120"/>
            <a:ext cx="4572000" cy="4572000"/>
          </a:xfrm>
          <a:prstGeom prst="ellipse">
            <a:avLst/>
          </a:prstGeom>
          <a:solidFill>
            <a:srgbClr val="D8492F">
              <a:alpha val="22000"/>
            </a:srgbClr>
          </a:solidFill>
          <a:ln/>
        </p:spPr>
        <p:txBody>
          <a:bodyPr/>
          <a:lstStyle/>
          <a:p>
            <a:endParaRPr lang="en-US"/>
          </a:p>
        </p:txBody>
      </p:sp>
      <p:sp>
        <p:nvSpPr>
          <p:cNvPr id="5" name="Text 3"/>
          <p:cNvSpPr/>
          <p:nvPr/>
        </p:nvSpPr>
        <p:spPr>
          <a:xfrm>
            <a:off x="822960" y="1920240"/>
            <a:ext cx="9144000" cy="365760"/>
          </a:xfrm>
          <a:prstGeom prst="rect">
            <a:avLst/>
          </a:prstGeom>
          <a:noFill/>
          <a:ln/>
        </p:spPr>
        <p:txBody>
          <a:bodyPr wrap="square" rtlCol="0" anchor="ctr"/>
          <a:lstStyle/>
          <a:p>
            <a:pPr marL="0" indent="0">
              <a:buNone/>
            </a:pPr>
            <a:r>
              <a:rPr lang="en-US" sz="1400" b="1" kern="0" spc="300">
                <a:solidFill>
                  <a:srgbClr val="8FC4BE"/>
                </a:solidFill>
                <a:latin typeface="Calibri" pitchFamily="34" charset="0"/>
                <a:ea typeface="Calibri" pitchFamily="34" charset="-122"/>
                <a:cs typeface="Calibri" pitchFamily="34" charset="-120"/>
              </a:rPr>
              <a:t>PATIENT EXPERIENCE ANALYSIS</a:t>
            </a:r>
            <a:endParaRPr lang="en-US" sz="1400"/>
          </a:p>
        </p:txBody>
      </p:sp>
      <p:sp>
        <p:nvSpPr>
          <p:cNvPr id="6" name="Text 4"/>
          <p:cNvSpPr/>
          <p:nvPr/>
        </p:nvSpPr>
        <p:spPr>
          <a:xfrm>
            <a:off x="777240" y="2286000"/>
            <a:ext cx="10241280" cy="1463040"/>
          </a:xfrm>
          <a:prstGeom prst="rect">
            <a:avLst/>
          </a:prstGeom>
          <a:noFill/>
          <a:ln/>
        </p:spPr>
        <p:txBody>
          <a:bodyPr wrap="square" rtlCol="0" anchor="ctr"/>
          <a:lstStyle/>
          <a:p>
            <a:pPr marL="0" indent="0">
              <a:buNone/>
            </a:pPr>
            <a:r>
              <a:rPr lang="en-US" sz="4400" b="1">
                <a:solidFill>
                  <a:srgbClr val="FFFFFF"/>
                </a:solidFill>
                <a:latin typeface="Cambria" pitchFamily="34" charset="0"/>
                <a:ea typeface="Cambria" pitchFamily="34" charset="-122"/>
                <a:cs typeface="Cambria" pitchFamily="34" charset="-120"/>
              </a:rPr>
              <a:t>Still in there. Just never read.</a:t>
            </a:r>
            <a:endParaRPr lang="en-US" sz="4400"/>
          </a:p>
        </p:txBody>
      </p:sp>
      <p:sp>
        <p:nvSpPr>
          <p:cNvPr id="7" name="Text 5"/>
          <p:cNvSpPr/>
          <p:nvPr/>
        </p:nvSpPr>
        <p:spPr>
          <a:xfrm>
            <a:off x="822960" y="3703320"/>
            <a:ext cx="8961120" cy="914400"/>
          </a:xfrm>
          <a:prstGeom prst="rect">
            <a:avLst/>
          </a:prstGeom>
          <a:noFill/>
          <a:ln/>
        </p:spPr>
        <p:txBody>
          <a:bodyPr wrap="square" rtlCol="0" anchor="ctr"/>
          <a:lstStyle/>
          <a:p>
            <a:pPr marL="0" indent="0">
              <a:buNone/>
            </a:pPr>
            <a:r>
              <a:rPr lang="en-US" sz="1600" i="1">
                <a:solidFill>
                  <a:srgbClr val="D7E7E4"/>
                </a:solidFill>
                <a:latin typeface="Calibri" pitchFamily="34" charset="0"/>
                <a:ea typeface="Calibri" pitchFamily="34" charset="-122"/>
                <a:cs typeface="Calibri" pitchFamily="34" charset="-120"/>
              </a:rPr>
              <a:t>What 289,889 pieces of patient feedback reveal about who MedCore is losing — and the one lever that could bring them back.</a:t>
            </a:r>
            <a:endParaRPr lang="en-US" sz="1600"/>
          </a:p>
        </p:txBody>
      </p:sp>
      <p:sp>
        <p:nvSpPr>
          <p:cNvPr id="8" name="Text 6"/>
          <p:cNvSpPr/>
          <p:nvPr/>
        </p:nvSpPr>
        <p:spPr>
          <a:xfrm>
            <a:off x="822960" y="5989320"/>
            <a:ext cx="7315200" cy="365760"/>
          </a:xfrm>
          <a:prstGeom prst="rect">
            <a:avLst/>
          </a:prstGeom>
          <a:noFill/>
          <a:ln/>
        </p:spPr>
        <p:txBody>
          <a:bodyPr wrap="square" rtlCol="0" anchor="ctr"/>
          <a:lstStyle/>
          <a:p>
            <a:pPr marL="0" indent="0">
              <a:buNone/>
            </a:pPr>
            <a:r>
              <a:rPr lang="en-US" sz="1300">
                <a:solidFill>
                  <a:srgbClr val="8FC4BE"/>
                </a:solidFill>
                <a:latin typeface="Calibri" pitchFamily="34" charset="0"/>
                <a:ea typeface="Calibri" pitchFamily="34" charset="-122"/>
                <a:cs typeface="Calibri" pitchFamily="34" charset="-120"/>
              </a:rPr>
              <a:t>MedCore Patient Experience Review</a:t>
            </a:r>
            <a:endParaRPr lang="en-US"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atient_feedback_lost_final">
            <a:hlinkClick r:id="" action="ppaction://media"/>
            <a:extLst>
              <a:ext uri="{FF2B5EF4-FFF2-40B4-BE49-F238E27FC236}">
                <a16:creationId xmlns:a16="http://schemas.microsoft.com/office/drawing/2014/main" id="{B490C700-C40D-CA96-84F1-7A1578C1E3A7}"/>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9200" y="685800"/>
            <a:ext cx="9753600" cy="5486400"/>
          </a:xfrm>
          <a:prstGeom prst="rect">
            <a:avLst/>
          </a:prstGeom>
        </p:spPr>
      </p:pic>
    </p:spTree>
    <p:extLst>
      <p:ext uri="{BB962C8B-B14F-4D97-AF65-F5344CB8AC3E}">
        <p14:creationId xmlns:p14="http://schemas.microsoft.com/office/powerpoint/2010/main" val="206094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548640"/>
          </a:xfrm>
          <a:prstGeom prst="rect">
            <a:avLst/>
          </a:prstGeom>
          <a:noFill/>
          <a:ln/>
        </p:spPr>
        <p:txBody>
          <a:bodyPr wrap="square" rtlCol="0" anchor="ctr"/>
          <a:lstStyle/>
          <a:p>
            <a:pPr marL="0" indent="0">
              <a:buNone/>
            </a:pPr>
            <a:r>
              <a:rPr lang="en-US" sz="3000" b="1">
                <a:solidFill>
                  <a:srgbClr val="0F5C5C"/>
                </a:solidFill>
                <a:latin typeface="Cambria" pitchFamily="34" charset="0"/>
                <a:ea typeface="Cambria" pitchFamily="34" charset="-122"/>
                <a:cs typeface="Cambria" pitchFamily="34" charset="-120"/>
              </a:rPr>
              <a:t>This isn't a handful of upset patients</a:t>
            </a:r>
            <a:endParaRPr lang="en-US" sz="3000"/>
          </a:p>
        </p:txBody>
      </p:sp>
      <p:sp>
        <p:nvSpPr>
          <p:cNvPr id="3" name="Text 1"/>
          <p:cNvSpPr/>
          <p:nvPr/>
        </p:nvSpPr>
        <p:spPr>
          <a:xfrm>
            <a:off x="548640" y="1005840"/>
            <a:ext cx="9601200" cy="365760"/>
          </a:xfrm>
          <a:prstGeom prst="rect">
            <a:avLst/>
          </a:prstGeom>
          <a:noFill/>
          <a:ln/>
        </p:spPr>
        <p:txBody>
          <a:bodyPr wrap="square" rtlCol="0" anchor="ctr"/>
          <a:lstStyle/>
          <a:p>
            <a:pPr marL="0" indent="0">
              <a:buNone/>
            </a:pPr>
            <a:r>
              <a:rPr lang="en-US" sz="1400">
                <a:solidFill>
                  <a:srgbClr val="6B6B66"/>
                </a:solidFill>
                <a:latin typeface="Calibri" pitchFamily="34" charset="0"/>
                <a:ea typeface="Calibri" pitchFamily="34" charset="-122"/>
                <a:cs typeface="Calibri" pitchFamily="34" charset="-120"/>
              </a:rPr>
              <a:t>Three years of patient feedback, every department, all in one dataset.</a:t>
            </a:r>
            <a:endParaRPr lang="en-US" sz="1400"/>
          </a:p>
        </p:txBody>
      </p:sp>
      <p:sp>
        <p:nvSpPr>
          <p:cNvPr id="4" name="Shape 2"/>
          <p:cNvSpPr/>
          <p:nvPr/>
        </p:nvSpPr>
        <p:spPr>
          <a:xfrm>
            <a:off x="548640" y="1691640"/>
            <a:ext cx="3520440" cy="1737360"/>
          </a:xfrm>
          <a:prstGeom prst="roundRect">
            <a:avLst>
              <a:gd name="adj" fmla="val 4211"/>
            </a:avLst>
          </a:prstGeom>
          <a:solidFill>
            <a:srgbClr val="F5F1E8"/>
          </a:solidFill>
          <a:ln w="9525">
            <a:solidFill>
              <a:srgbClr val="E5E0D2"/>
            </a:solidFill>
            <a:prstDash val="solid"/>
          </a:ln>
        </p:spPr>
        <p:txBody>
          <a:bodyPr/>
          <a:lstStyle/>
          <a:p>
            <a:endParaRPr lang="en-US"/>
          </a:p>
        </p:txBody>
      </p:sp>
      <p:sp>
        <p:nvSpPr>
          <p:cNvPr id="5" name="Text 3"/>
          <p:cNvSpPr/>
          <p:nvPr/>
        </p:nvSpPr>
        <p:spPr>
          <a:xfrm>
            <a:off x="685800" y="1783080"/>
            <a:ext cx="3246120" cy="1007669"/>
          </a:xfrm>
          <a:prstGeom prst="rect">
            <a:avLst/>
          </a:prstGeom>
          <a:noFill/>
          <a:ln/>
        </p:spPr>
        <p:txBody>
          <a:bodyPr wrap="square" lIns="0" tIns="0" rIns="0" bIns="0" rtlCol="0" anchor="b"/>
          <a:lstStyle/>
          <a:p>
            <a:pPr marL="0" indent="0" algn="l">
              <a:buNone/>
            </a:pPr>
            <a:r>
              <a:rPr lang="en-US" sz="3000" b="1">
                <a:solidFill>
                  <a:srgbClr val="0F5C5C"/>
                </a:solidFill>
                <a:latin typeface="Cambria" pitchFamily="34" charset="0"/>
                <a:ea typeface="Cambria" pitchFamily="34" charset="-122"/>
                <a:cs typeface="Cambria" pitchFamily="34" charset="-120"/>
              </a:rPr>
              <a:t>289,889</a:t>
            </a:r>
            <a:endParaRPr lang="en-US" sz="3000"/>
          </a:p>
        </p:txBody>
      </p:sp>
      <p:sp>
        <p:nvSpPr>
          <p:cNvPr id="6" name="Text 4"/>
          <p:cNvSpPr/>
          <p:nvPr/>
        </p:nvSpPr>
        <p:spPr>
          <a:xfrm>
            <a:off x="685800" y="2734056"/>
            <a:ext cx="3246120" cy="660197"/>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patient feedback responses</a:t>
            </a:r>
            <a:endParaRPr lang="en-US" sz="1200"/>
          </a:p>
        </p:txBody>
      </p:sp>
      <p:sp>
        <p:nvSpPr>
          <p:cNvPr id="7" name="Shape 5"/>
          <p:cNvSpPr/>
          <p:nvPr/>
        </p:nvSpPr>
        <p:spPr>
          <a:xfrm>
            <a:off x="4251960" y="1691640"/>
            <a:ext cx="3520440" cy="1737360"/>
          </a:xfrm>
          <a:prstGeom prst="roundRect">
            <a:avLst>
              <a:gd name="adj" fmla="val 4211"/>
            </a:avLst>
          </a:prstGeom>
          <a:solidFill>
            <a:srgbClr val="F5F1E8"/>
          </a:solidFill>
          <a:ln w="9525">
            <a:solidFill>
              <a:srgbClr val="E5E0D2"/>
            </a:solidFill>
            <a:prstDash val="solid"/>
          </a:ln>
        </p:spPr>
        <p:txBody>
          <a:bodyPr/>
          <a:lstStyle/>
          <a:p>
            <a:endParaRPr lang="en-US"/>
          </a:p>
        </p:txBody>
      </p:sp>
      <p:sp>
        <p:nvSpPr>
          <p:cNvPr id="8" name="Text 6"/>
          <p:cNvSpPr/>
          <p:nvPr/>
        </p:nvSpPr>
        <p:spPr>
          <a:xfrm>
            <a:off x="4389120" y="1783080"/>
            <a:ext cx="3246120" cy="1007669"/>
          </a:xfrm>
          <a:prstGeom prst="rect">
            <a:avLst/>
          </a:prstGeom>
          <a:noFill/>
          <a:ln/>
        </p:spPr>
        <p:txBody>
          <a:bodyPr wrap="square" lIns="0" tIns="0" rIns="0" bIns="0" rtlCol="0" anchor="b"/>
          <a:lstStyle/>
          <a:p>
            <a:pPr marL="0" indent="0" algn="l">
              <a:buNone/>
            </a:pPr>
            <a:r>
              <a:rPr lang="en-US" sz="3000" b="1">
                <a:solidFill>
                  <a:srgbClr val="D8492F"/>
                </a:solidFill>
                <a:latin typeface="Cambria" pitchFamily="34" charset="0"/>
                <a:ea typeface="Cambria" pitchFamily="34" charset="-122"/>
                <a:cs typeface="Cambria" pitchFamily="34" charset="-120"/>
              </a:rPr>
              <a:t>38.6%</a:t>
            </a:r>
            <a:endParaRPr lang="en-US" sz="3000"/>
          </a:p>
        </p:txBody>
      </p:sp>
      <p:sp>
        <p:nvSpPr>
          <p:cNvPr id="9" name="Text 7"/>
          <p:cNvSpPr/>
          <p:nvPr/>
        </p:nvSpPr>
        <p:spPr>
          <a:xfrm>
            <a:off x="4389120" y="2734056"/>
            <a:ext cx="3246120" cy="660197"/>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flagged At-Risk of disengaging</a:t>
            </a:r>
            <a:endParaRPr lang="en-US" sz="1200"/>
          </a:p>
        </p:txBody>
      </p:sp>
      <p:sp>
        <p:nvSpPr>
          <p:cNvPr id="10" name="Shape 8"/>
          <p:cNvSpPr/>
          <p:nvPr/>
        </p:nvSpPr>
        <p:spPr>
          <a:xfrm>
            <a:off x="7955280" y="1691640"/>
            <a:ext cx="3520440" cy="1737360"/>
          </a:xfrm>
          <a:prstGeom prst="roundRect">
            <a:avLst>
              <a:gd name="adj" fmla="val 4211"/>
            </a:avLst>
          </a:prstGeom>
          <a:solidFill>
            <a:srgbClr val="F5F1E8"/>
          </a:solidFill>
          <a:ln w="9525">
            <a:solidFill>
              <a:srgbClr val="E5E0D2"/>
            </a:solidFill>
            <a:prstDash val="solid"/>
          </a:ln>
        </p:spPr>
        <p:txBody>
          <a:bodyPr/>
          <a:lstStyle/>
          <a:p>
            <a:endParaRPr lang="en-US"/>
          </a:p>
        </p:txBody>
      </p:sp>
      <p:sp>
        <p:nvSpPr>
          <p:cNvPr id="11" name="Text 9"/>
          <p:cNvSpPr/>
          <p:nvPr/>
        </p:nvSpPr>
        <p:spPr>
          <a:xfrm>
            <a:off x="8092440" y="1783080"/>
            <a:ext cx="3246120" cy="1007669"/>
          </a:xfrm>
          <a:prstGeom prst="rect">
            <a:avLst/>
          </a:prstGeom>
          <a:noFill/>
          <a:ln/>
        </p:spPr>
        <p:txBody>
          <a:bodyPr wrap="square" lIns="0" tIns="0" rIns="0" bIns="0" rtlCol="0" anchor="b"/>
          <a:lstStyle/>
          <a:p>
            <a:pPr marL="0" indent="0" algn="l">
              <a:buNone/>
            </a:pPr>
            <a:r>
              <a:rPr lang="en-US" sz="3000" b="1">
                <a:solidFill>
                  <a:srgbClr val="0F5C5C"/>
                </a:solidFill>
                <a:latin typeface="Cambria" pitchFamily="34" charset="0"/>
                <a:ea typeface="Cambria" pitchFamily="34" charset="-122"/>
                <a:cs typeface="Cambria" pitchFamily="34" charset="-120"/>
              </a:rPr>
              <a:t>6.1x</a:t>
            </a:r>
            <a:endParaRPr lang="en-US" sz="3000"/>
          </a:p>
        </p:txBody>
      </p:sp>
      <p:sp>
        <p:nvSpPr>
          <p:cNvPr id="12" name="Text 10"/>
          <p:cNvSpPr/>
          <p:nvPr/>
        </p:nvSpPr>
        <p:spPr>
          <a:xfrm>
            <a:off x="8092440" y="2734056"/>
            <a:ext cx="3246120" cy="660197"/>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more likely to no-show than satisfied patients</a:t>
            </a:r>
            <a:endParaRPr lang="en-US" sz="1200"/>
          </a:p>
        </p:txBody>
      </p:sp>
      <p:sp>
        <p:nvSpPr>
          <p:cNvPr id="13" name="Shape 11"/>
          <p:cNvSpPr/>
          <p:nvPr/>
        </p:nvSpPr>
        <p:spPr>
          <a:xfrm>
            <a:off x="548640" y="3749040"/>
            <a:ext cx="10881360" cy="2148840"/>
          </a:xfrm>
          <a:prstGeom prst="roundRect">
            <a:avLst>
              <a:gd name="adj" fmla="val 3404"/>
            </a:avLst>
          </a:prstGeom>
          <a:solidFill>
            <a:srgbClr val="0F5C5C"/>
          </a:solidFill>
          <a:ln/>
        </p:spPr>
        <p:txBody>
          <a:bodyPr/>
          <a:lstStyle/>
          <a:p>
            <a:endParaRPr lang="en-US"/>
          </a:p>
        </p:txBody>
      </p:sp>
      <p:sp>
        <p:nvSpPr>
          <p:cNvPr id="14" name="Text 12"/>
          <p:cNvSpPr/>
          <p:nvPr/>
        </p:nvSpPr>
        <p:spPr>
          <a:xfrm>
            <a:off x="937260" y="4389120"/>
            <a:ext cx="10149840" cy="685800"/>
          </a:xfrm>
          <a:prstGeom prst="rect">
            <a:avLst/>
          </a:prstGeom>
          <a:noFill/>
          <a:ln/>
        </p:spPr>
        <p:txBody>
          <a:bodyPr wrap="square" rtlCol="0" anchor="ctr"/>
          <a:lstStyle/>
          <a:p>
            <a:pPr marL="0" indent="0">
              <a:buNone/>
            </a:pPr>
            <a:r>
              <a:rPr lang="en-US" sz="3600" b="1">
                <a:solidFill>
                  <a:srgbClr val="FFFFFF"/>
                </a:solidFill>
                <a:latin typeface="Cambria" pitchFamily="34" charset="0"/>
                <a:ea typeface="Cambria" pitchFamily="34" charset="-122"/>
                <a:cs typeface="Cambria" pitchFamily="34" charset="-120"/>
              </a:rPr>
              <a:t>The Problem: </a:t>
            </a:r>
            <a:r>
              <a:rPr lang="en-US" sz="3600">
                <a:solidFill>
                  <a:srgbClr val="FFFFFF"/>
                </a:solidFill>
                <a:latin typeface="Cambria" pitchFamily="34" charset="0"/>
                <a:ea typeface="Cambria" pitchFamily="34" charset="-122"/>
                <a:cs typeface="Cambria" pitchFamily="34" charset="-120"/>
              </a:rPr>
              <a:t>Patients are leaving dissatisfied and not coming back.</a:t>
            </a:r>
            <a:endParaRPr lang="en-US" sz="3600"/>
          </a:p>
        </p:txBody>
      </p:sp>
      <p:sp>
        <p:nvSpPr>
          <p:cNvPr id="15" name="Text 13"/>
          <p:cNvSpPr/>
          <p:nvPr/>
        </p:nvSpPr>
        <p:spPr>
          <a:xfrm>
            <a:off x="914400" y="4709160"/>
            <a:ext cx="10149840" cy="1005840"/>
          </a:xfrm>
          <a:prstGeom prst="rect">
            <a:avLst/>
          </a:prstGeom>
          <a:noFill/>
          <a:ln/>
        </p:spPr>
        <p:txBody>
          <a:bodyPr wrap="square" rtlCol="0" anchor="ctr"/>
          <a:lstStyle/>
          <a:p>
            <a:pPr marL="0" indent="0">
              <a:buNone/>
            </a:pPr>
            <a:endParaRPr lang="en-US" sz="1500"/>
          </a:p>
        </p:txBody>
      </p:sp>
      <p:sp>
        <p:nvSpPr>
          <p:cNvPr id="16" name="Text 14"/>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2 · The business problem</a:t>
            </a:r>
            <a:endParaRPr lang="en-US" sz="1000"/>
          </a:p>
        </p:txBody>
      </p:sp>
      <p:sp>
        <p:nvSpPr>
          <p:cNvPr id="17" name="Text 15"/>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91440" tIns="45720" rIns="91440" bIns="45720" rtlCol="0" anchor="ctr"/>
          <a:lstStyle/>
          <a:p>
            <a:pPr marL="0" indent="0">
              <a:buNone/>
            </a:pPr>
            <a:r>
              <a:rPr lang="en-US" sz="2800" b="1">
                <a:solidFill>
                  <a:srgbClr val="0F5C5C"/>
                </a:solidFill>
                <a:latin typeface="Cambria"/>
                <a:ea typeface="Cambria"/>
                <a:cs typeface="Cambria" pitchFamily="34" charset="-120"/>
              </a:rPr>
              <a:t>Flat For Three Years </a:t>
            </a:r>
            <a:endParaRPr lang="en-US" sz="2800">
              <a:latin typeface="Cambria"/>
              <a:ea typeface="Cambria"/>
            </a:endParaRPr>
          </a:p>
        </p:txBody>
      </p:sp>
      <p:sp>
        <p:nvSpPr>
          <p:cNvPr id="3" name="Text 1"/>
          <p:cNvSpPr/>
          <p:nvPr/>
        </p:nvSpPr>
        <p:spPr>
          <a:xfrm>
            <a:off x="548640" y="987552"/>
            <a:ext cx="10515600" cy="365760"/>
          </a:xfrm>
          <a:prstGeom prst="rect">
            <a:avLst/>
          </a:prstGeom>
          <a:noFill/>
          <a:ln/>
        </p:spPr>
        <p:txBody>
          <a:bodyPr wrap="square" rtlCol="0" anchor="ctr"/>
          <a:lstStyle/>
          <a:p>
            <a:pPr marL="0" indent="0">
              <a:buNone/>
            </a:pPr>
            <a:r>
              <a:rPr lang="en-US" sz="1400">
                <a:solidFill>
                  <a:srgbClr val="6B6B66"/>
                </a:solidFill>
                <a:latin typeface="Calibri" pitchFamily="34" charset="0"/>
                <a:ea typeface="Calibri" pitchFamily="34" charset="-122"/>
                <a:cs typeface="Calibri" pitchFamily="34" charset="-120"/>
              </a:rPr>
              <a:t>A spike means something broke. Flat for three years means this is just how MedCore runs.</a:t>
            </a:r>
            <a:endParaRPr lang="en-US" sz="1400"/>
          </a:p>
        </p:txBody>
      </p:sp>
      <p:graphicFrame>
        <p:nvGraphicFramePr>
          <p:cNvPr id="4" name="Chart 0"/>
          <p:cNvGraphicFramePr/>
          <p:nvPr/>
        </p:nvGraphicFramePr>
        <p:xfrm>
          <a:off x="548640" y="1508760"/>
          <a:ext cx="7315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83880" y="1508760"/>
            <a:ext cx="3474720" cy="4114800"/>
          </a:xfrm>
          <a:prstGeom prst="roundRect">
            <a:avLst>
              <a:gd name="adj" fmla="val 2105"/>
            </a:avLst>
          </a:prstGeom>
          <a:solidFill>
            <a:srgbClr val="F5F1E8"/>
          </a:solidFill>
          <a:ln w="9525">
            <a:solidFill>
              <a:srgbClr val="E5E0D2"/>
            </a:solidFill>
            <a:prstDash val="solid"/>
          </a:ln>
        </p:spPr>
        <p:txBody>
          <a:bodyPr/>
          <a:lstStyle/>
          <a:p>
            <a:endParaRPr lang="en-US"/>
          </a:p>
        </p:txBody>
      </p:sp>
      <p:sp>
        <p:nvSpPr>
          <p:cNvPr id="6" name="Text 3"/>
          <p:cNvSpPr/>
          <p:nvPr/>
        </p:nvSpPr>
        <p:spPr>
          <a:xfrm>
            <a:off x="8412480" y="1783080"/>
            <a:ext cx="3017520" cy="640080"/>
          </a:xfrm>
          <a:prstGeom prst="rect">
            <a:avLst/>
          </a:prstGeom>
          <a:noFill/>
          <a:ln/>
        </p:spPr>
        <p:txBody>
          <a:bodyPr wrap="square" rtlCol="0" anchor="ctr"/>
          <a:lstStyle/>
          <a:p>
            <a:pPr marL="0" indent="0">
              <a:buNone/>
            </a:pPr>
            <a:r>
              <a:rPr lang="en-US" sz="2400" b="1">
                <a:solidFill>
                  <a:srgbClr val="0F5C5C"/>
                </a:solidFill>
                <a:latin typeface="Cambria" pitchFamily="34" charset="0"/>
                <a:ea typeface="Cambria" pitchFamily="34" charset="-122"/>
                <a:cs typeface="Cambria" pitchFamily="34" charset="-120"/>
              </a:rPr>
              <a:t>37.9% – 39.5%</a:t>
            </a:r>
            <a:endParaRPr lang="en-US" sz="2400"/>
          </a:p>
        </p:txBody>
      </p:sp>
      <p:sp>
        <p:nvSpPr>
          <p:cNvPr id="7" name="Text 4"/>
          <p:cNvSpPr/>
          <p:nvPr/>
        </p:nvSpPr>
        <p:spPr>
          <a:xfrm>
            <a:off x="8412480" y="2377440"/>
            <a:ext cx="3017520" cy="548640"/>
          </a:xfrm>
          <a:prstGeom prst="rect">
            <a:avLst/>
          </a:prstGeom>
          <a:noFill/>
          <a:ln/>
        </p:spPr>
        <p:txBody>
          <a:bodyPr wrap="square" lIns="91440" tIns="45720" rIns="91440" bIns="45720" rtlCol="0" anchor="ctr"/>
          <a:lstStyle/>
          <a:p>
            <a:pPr marL="0" indent="0">
              <a:buNone/>
            </a:pPr>
            <a:r>
              <a:rPr lang="en-US" sz="1200">
                <a:solidFill>
                  <a:srgbClr val="6B6B66"/>
                </a:solidFill>
                <a:latin typeface="Calibri"/>
                <a:ea typeface="Calibri"/>
                <a:cs typeface="Calibri"/>
              </a:rPr>
              <a:t>the entire range, across 13 straight quarters</a:t>
            </a:r>
            <a:endParaRPr lang="en-US" sz="1200">
              <a:latin typeface="Calibri"/>
              <a:ea typeface="Calibri"/>
              <a:cs typeface="Calibri"/>
            </a:endParaRPr>
          </a:p>
        </p:txBody>
      </p:sp>
      <p:sp>
        <p:nvSpPr>
          <p:cNvPr id="8" name="Text 5"/>
          <p:cNvSpPr/>
          <p:nvPr/>
        </p:nvSpPr>
        <p:spPr>
          <a:xfrm>
            <a:off x="8412480" y="3200400"/>
            <a:ext cx="3017520" cy="2194560"/>
          </a:xfrm>
          <a:prstGeom prst="rect">
            <a:avLst/>
          </a:prstGeom>
          <a:noFill/>
          <a:ln/>
        </p:spPr>
        <p:txBody>
          <a:bodyPr wrap="square" lIns="91440" tIns="45720" rIns="91440" bIns="45720" rtlCol="0" anchor="ctr"/>
          <a:lstStyle/>
          <a:p>
            <a:r>
              <a:rPr lang="en-US" i="1">
                <a:ea typeface="+mn-lt"/>
                <a:cs typeface="+mn-lt"/>
              </a:rPr>
              <a:t>This is a persistent, underlying issue, not a one-time event. Because it has remained consistent over time, it requires a deliberate strategy and targeted action to improve.</a:t>
            </a:r>
          </a:p>
        </p:txBody>
      </p:sp>
      <p:sp>
        <p:nvSpPr>
          <p:cNvPr id="9" name="Text 6"/>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2 · The business problem</a:t>
            </a:r>
            <a:endParaRPr lang="en-US" sz="1000"/>
          </a:p>
        </p:txBody>
      </p:sp>
      <p:sp>
        <p:nvSpPr>
          <p:cNvPr id="10" name="Text 7"/>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91440" tIns="45720" rIns="91440" bIns="45720" rtlCol="0" anchor="ctr"/>
          <a:lstStyle/>
          <a:p>
            <a:r>
              <a:rPr lang="en-US" sz="2800" b="1">
                <a:solidFill>
                  <a:srgbClr val="0F5C5C"/>
                </a:solidFill>
                <a:latin typeface="Cambria"/>
                <a:ea typeface="Cambria"/>
                <a:cs typeface="Cambria" pitchFamily="34" charset="-120"/>
              </a:rPr>
              <a:t>A Nearly 3x Spread Between Departments</a:t>
            </a:r>
            <a:endParaRPr lang="en-US" sz="2800">
              <a:latin typeface="Cambria"/>
              <a:ea typeface="Cambria"/>
            </a:endParaRPr>
          </a:p>
        </p:txBody>
      </p:sp>
      <p:sp>
        <p:nvSpPr>
          <p:cNvPr id="3" name="Text 1"/>
          <p:cNvSpPr/>
          <p:nvPr/>
        </p:nvSpPr>
        <p:spPr>
          <a:xfrm>
            <a:off x="548640" y="987552"/>
            <a:ext cx="10058400" cy="365760"/>
          </a:xfrm>
          <a:prstGeom prst="rect">
            <a:avLst/>
          </a:prstGeom>
          <a:noFill/>
          <a:ln/>
        </p:spPr>
        <p:txBody>
          <a:bodyPr wrap="square" rtlCol="0" anchor="ctr"/>
          <a:lstStyle/>
          <a:p>
            <a:pPr marL="0" indent="0">
              <a:buNone/>
            </a:pPr>
            <a:r>
              <a:rPr lang="en-US" sz="1400">
                <a:solidFill>
                  <a:srgbClr val="6B6B66"/>
                </a:solidFill>
                <a:latin typeface="Calibri" pitchFamily="34" charset="0"/>
                <a:ea typeface="Calibri" pitchFamily="34" charset="-122"/>
                <a:cs typeface="Calibri" pitchFamily="34" charset="-120"/>
              </a:rPr>
              <a:t>Too wide to be chance or case-mix. This is practice — which means it's fixable.</a:t>
            </a:r>
            <a:endParaRPr lang="en-US" sz="1400"/>
          </a:p>
        </p:txBody>
      </p:sp>
      <p:graphicFrame>
        <p:nvGraphicFramePr>
          <p:cNvPr id="4" name="Chart 0"/>
          <p:cNvGraphicFramePr/>
          <p:nvPr/>
        </p:nvGraphicFramePr>
        <p:xfrm>
          <a:off x="548640" y="1508760"/>
          <a:ext cx="758952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439331" y="1508760"/>
            <a:ext cx="3291840" cy="4434840"/>
          </a:xfrm>
          <a:prstGeom prst="roundRect">
            <a:avLst>
              <a:gd name="adj" fmla="val 2222"/>
            </a:avLst>
          </a:prstGeom>
          <a:solidFill>
            <a:srgbClr val="0F5C5C"/>
          </a:solidFill>
          <a:ln/>
        </p:spPr>
        <p:txBody>
          <a:bodyPr/>
          <a:lstStyle/>
          <a:p>
            <a:endParaRPr lang="en-US"/>
          </a:p>
        </p:txBody>
      </p:sp>
      <p:sp>
        <p:nvSpPr>
          <p:cNvPr id="6" name="Text 3"/>
          <p:cNvSpPr/>
          <p:nvPr/>
        </p:nvSpPr>
        <p:spPr>
          <a:xfrm>
            <a:off x="8711474" y="1737360"/>
            <a:ext cx="1371600" cy="502920"/>
          </a:xfrm>
          <a:prstGeom prst="rect">
            <a:avLst/>
          </a:prstGeom>
          <a:noFill/>
          <a:ln/>
        </p:spPr>
        <p:txBody>
          <a:bodyPr wrap="square" rtlCol="0" anchor="ctr"/>
          <a:lstStyle/>
          <a:p>
            <a:pPr marL="0" indent="0">
              <a:buNone/>
            </a:pPr>
            <a:r>
              <a:rPr lang="en-US" sz="2200" b="1">
                <a:solidFill>
                  <a:srgbClr val="CADCDA"/>
                </a:solidFill>
                <a:latin typeface="Cambria" pitchFamily="34" charset="0"/>
                <a:ea typeface="Cambria" pitchFamily="34" charset="-122"/>
                <a:cs typeface="Cambria" pitchFamily="34" charset="-120"/>
              </a:rPr>
              <a:t>20.5%</a:t>
            </a:r>
            <a:endParaRPr lang="en-US" sz="2200"/>
          </a:p>
        </p:txBody>
      </p:sp>
      <p:sp>
        <p:nvSpPr>
          <p:cNvPr id="7" name="Text 4"/>
          <p:cNvSpPr/>
          <p:nvPr/>
        </p:nvSpPr>
        <p:spPr>
          <a:xfrm>
            <a:off x="9670143" y="1803255"/>
            <a:ext cx="457200" cy="365760"/>
          </a:xfrm>
          <a:prstGeom prst="rect">
            <a:avLst/>
          </a:prstGeom>
          <a:noFill/>
          <a:ln/>
        </p:spPr>
        <p:txBody>
          <a:bodyPr wrap="square" rtlCol="0" anchor="ctr"/>
          <a:lstStyle/>
          <a:p>
            <a:pPr marL="0" indent="0">
              <a:buNone/>
            </a:pPr>
            <a:r>
              <a:rPr lang="en-US" sz="1400">
                <a:solidFill>
                  <a:srgbClr val="CADCDA"/>
                </a:solidFill>
                <a:latin typeface="Calibri" pitchFamily="34" charset="0"/>
                <a:ea typeface="Calibri" pitchFamily="34" charset="-122"/>
                <a:cs typeface="Calibri" pitchFamily="34" charset="-120"/>
              </a:rPr>
              <a:t>to</a:t>
            </a:r>
            <a:endParaRPr lang="en-US" sz="1400"/>
          </a:p>
        </p:txBody>
      </p:sp>
      <p:sp>
        <p:nvSpPr>
          <p:cNvPr id="8" name="Text 5"/>
          <p:cNvSpPr/>
          <p:nvPr/>
        </p:nvSpPr>
        <p:spPr>
          <a:xfrm>
            <a:off x="9966960" y="1715589"/>
            <a:ext cx="2011680" cy="502920"/>
          </a:xfrm>
          <a:prstGeom prst="rect">
            <a:avLst/>
          </a:prstGeom>
          <a:noFill/>
          <a:ln/>
        </p:spPr>
        <p:txBody>
          <a:bodyPr wrap="square" rtlCol="0" anchor="ctr"/>
          <a:lstStyle/>
          <a:p>
            <a:pPr marL="0" indent="0">
              <a:buNone/>
            </a:pPr>
            <a:r>
              <a:rPr lang="en-US" sz="2200" b="1">
                <a:solidFill>
                  <a:srgbClr val="FFE7DE"/>
                </a:solidFill>
                <a:latin typeface="Cambria" pitchFamily="34" charset="0"/>
                <a:ea typeface="Cambria" pitchFamily="34" charset="-122"/>
                <a:cs typeface="Cambria" pitchFamily="34" charset="-120"/>
              </a:rPr>
              <a:t>57.9%</a:t>
            </a:r>
            <a:endParaRPr lang="en-US" sz="2200"/>
          </a:p>
        </p:txBody>
      </p:sp>
      <p:sp>
        <p:nvSpPr>
          <p:cNvPr id="9" name="Text 6"/>
          <p:cNvSpPr/>
          <p:nvPr/>
        </p:nvSpPr>
        <p:spPr>
          <a:xfrm>
            <a:off x="8595360" y="2743200"/>
            <a:ext cx="2834640" cy="548640"/>
          </a:xfrm>
          <a:prstGeom prst="rect">
            <a:avLst/>
          </a:prstGeom>
          <a:noFill/>
          <a:ln/>
        </p:spPr>
        <p:txBody>
          <a:bodyPr wrap="square" rtlCol="0" anchor="ctr"/>
          <a:lstStyle/>
          <a:p>
            <a:pPr marL="0" indent="0">
              <a:buNone/>
            </a:pPr>
            <a:r>
              <a:rPr lang="en-US" sz="1200">
                <a:solidFill>
                  <a:srgbClr val="D7E7E4"/>
                </a:solidFill>
                <a:latin typeface="Calibri" pitchFamily="34" charset="0"/>
                <a:ea typeface="Calibri" pitchFamily="34" charset="-122"/>
                <a:cs typeface="Calibri" pitchFamily="34" charset="-120"/>
              </a:rPr>
              <a:t>across departments with 50+ responses</a:t>
            </a:r>
            <a:endParaRPr lang="en-US" sz="1200"/>
          </a:p>
        </p:txBody>
      </p:sp>
      <p:sp>
        <p:nvSpPr>
          <p:cNvPr id="10" name="Text 7"/>
          <p:cNvSpPr/>
          <p:nvPr/>
        </p:nvSpPr>
        <p:spPr>
          <a:xfrm>
            <a:off x="8595360" y="3429000"/>
            <a:ext cx="2834640" cy="2286000"/>
          </a:xfrm>
          <a:prstGeom prst="rect">
            <a:avLst/>
          </a:prstGeom>
          <a:noFill/>
          <a:ln/>
        </p:spPr>
        <p:txBody>
          <a:bodyPr wrap="square" lIns="91440" tIns="45720" rIns="91440" bIns="45720" rtlCol="0" anchor="ctr"/>
          <a:lstStyle/>
          <a:p>
            <a:r>
              <a:rPr lang="en-US" i="1">
                <a:solidFill>
                  <a:srgbClr val="FFFFFF"/>
                </a:solidFill>
                <a:latin typeface="Cambria"/>
                <a:ea typeface="Cambria"/>
                <a:cs typeface="Cambria" pitchFamily="34" charset="-120"/>
              </a:rPr>
              <a:t>Your best-performing departments prove the conditions driving 38.6% dissatisfaction elsewhere aren't universal, targeted intervention is realistic, not just aspirational.</a:t>
            </a:r>
            <a:endParaRPr lang="en-US">
              <a:latin typeface="Cambria"/>
              <a:ea typeface="Cambria"/>
            </a:endParaRPr>
          </a:p>
        </p:txBody>
      </p:sp>
      <p:sp>
        <p:nvSpPr>
          <p:cNvPr id="11" name="Text 8"/>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4 · The evidence</a:t>
            </a:r>
            <a:endParaRPr lang="en-US" sz="1000"/>
          </a:p>
        </p:txBody>
      </p:sp>
      <p:sp>
        <p:nvSpPr>
          <p:cNvPr id="12" name="Text 9"/>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lIns="91440" tIns="45720" rIns="91440" bIns="45720" rtlCol="0" anchor="ctr"/>
          <a:lstStyle/>
          <a:p>
            <a:r>
              <a:rPr lang="en-US" sz="2800" b="1">
                <a:solidFill>
                  <a:srgbClr val="0F5C5C"/>
                </a:solidFill>
                <a:latin typeface="Cambria"/>
                <a:ea typeface="Cambria"/>
                <a:cs typeface="+mn-lt"/>
              </a:rPr>
              <a:t>The Biggest Factor We Found: Booking Delays</a:t>
            </a:r>
            <a:endParaRPr lang="en-US" b="1">
              <a:latin typeface="Cambria"/>
              <a:ea typeface="Cambria"/>
            </a:endParaRPr>
          </a:p>
        </p:txBody>
      </p:sp>
      <p:sp>
        <p:nvSpPr>
          <p:cNvPr id="3" name="Text 1"/>
          <p:cNvSpPr/>
          <p:nvPr/>
        </p:nvSpPr>
        <p:spPr>
          <a:xfrm>
            <a:off x="548640" y="987552"/>
            <a:ext cx="10058400" cy="365760"/>
          </a:xfrm>
          <a:prstGeom prst="rect">
            <a:avLst/>
          </a:prstGeom>
          <a:noFill/>
          <a:ln/>
        </p:spPr>
        <p:txBody>
          <a:bodyPr wrap="square" lIns="91440" tIns="45720" rIns="91440" bIns="45720" rtlCol="0" anchor="ctr"/>
          <a:lstStyle/>
          <a:p>
            <a:r>
              <a:rPr lang="en-US" sz="1400">
                <a:solidFill>
                  <a:srgbClr val="6B6B66"/>
                </a:solidFill>
                <a:ea typeface="+mn-lt"/>
                <a:cs typeface="+mn-lt"/>
              </a:rPr>
              <a:t>The more patients have to wait for an appointment, the more likely they are to become dissatisfied. </a:t>
            </a:r>
            <a:endParaRPr lang="en-US"/>
          </a:p>
        </p:txBody>
      </p:sp>
      <p:graphicFrame>
        <p:nvGraphicFramePr>
          <p:cNvPr id="4" name="Chart 0"/>
          <p:cNvGraphicFramePr/>
          <p:nvPr/>
        </p:nvGraphicFramePr>
        <p:xfrm>
          <a:off x="548640" y="1508760"/>
          <a:ext cx="694944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26680" y="1508760"/>
            <a:ext cx="3931920" cy="4434840"/>
          </a:xfrm>
          <a:prstGeom prst="roundRect">
            <a:avLst>
              <a:gd name="adj" fmla="val 1860"/>
            </a:avLst>
          </a:prstGeom>
          <a:solidFill>
            <a:srgbClr val="F5F1E8"/>
          </a:solidFill>
          <a:ln w="9525">
            <a:solidFill>
              <a:srgbClr val="E5E0D2"/>
            </a:solidFill>
            <a:prstDash val="solid"/>
          </a:ln>
        </p:spPr>
        <p:txBody>
          <a:bodyPr/>
          <a:lstStyle/>
          <a:p>
            <a:endParaRPr lang="en-US"/>
          </a:p>
        </p:txBody>
      </p:sp>
      <p:sp>
        <p:nvSpPr>
          <p:cNvPr id="6" name="Text 3"/>
          <p:cNvSpPr/>
          <p:nvPr/>
        </p:nvSpPr>
        <p:spPr>
          <a:xfrm>
            <a:off x="7955280" y="1737360"/>
            <a:ext cx="2286000" cy="640080"/>
          </a:xfrm>
          <a:prstGeom prst="rect">
            <a:avLst/>
          </a:prstGeom>
          <a:noFill/>
          <a:ln/>
        </p:spPr>
        <p:txBody>
          <a:bodyPr wrap="square" rtlCol="0" anchor="ctr"/>
          <a:lstStyle/>
          <a:p>
            <a:pPr marL="0" indent="0">
              <a:buNone/>
            </a:pPr>
            <a:r>
              <a:rPr lang="en-US" sz="3000" b="1">
                <a:solidFill>
                  <a:srgbClr val="0F5C5C"/>
                </a:solidFill>
                <a:latin typeface="Cambria" pitchFamily="34" charset="0"/>
                <a:ea typeface="Cambria" pitchFamily="34" charset="-122"/>
                <a:cs typeface="Cambria" pitchFamily="34" charset="-120"/>
              </a:rPr>
              <a:t>2.7x</a:t>
            </a:r>
            <a:endParaRPr lang="en-US" sz="3000"/>
          </a:p>
        </p:txBody>
      </p:sp>
      <p:sp>
        <p:nvSpPr>
          <p:cNvPr id="7" name="Text 4"/>
          <p:cNvSpPr/>
          <p:nvPr/>
        </p:nvSpPr>
        <p:spPr>
          <a:xfrm>
            <a:off x="7955280" y="2377440"/>
            <a:ext cx="3474720" cy="777240"/>
          </a:xfrm>
          <a:prstGeom prst="rect">
            <a:avLst/>
          </a:prstGeom>
          <a:noFill/>
          <a:ln/>
        </p:spPr>
        <p:txBody>
          <a:bodyPr wrap="square" rtlCol="0" anchor="ctr"/>
          <a:lstStyle/>
          <a:p>
            <a:pPr marL="0" indent="0">
              <a:buNone/>
            </a:pPr>
            <a:r>
              <a:rPr lang="en-US" sz="1300">
                <a:solidFill>
                  <a:srgbClr val="6B6B66"/>
                </a:solidFill>
                <a:latin typeface="Calibri" pitchFamily="34" charset="0"/>
                <a:ea typeface="Calibri" pitchFamily="34" charset="-122"/>
                <a:cs typeface="Calibri" pitchFamily="34" charset="-120"/>
              </a:rPr>
              <a:t>increase in At-Risk rate from shortest to longest booking delay</a:t>
            </a:r>
            <a:endParaRPr lang="en-US" sz="1300"/>
          </a:p>
        </p:txBody>
      </p:sp>
      <p:sp>
        <p:nvSpPr>
          <p:cNvPr id="8" name="Shape 5"/>
          <p:cNvSpPr/>
          <p:nvPr/>
        </p:nvSpPr>
        <p:spPr>
          <a:xfrm>
            <a:off x="7955280" y="3246120"/>
            <a:ext cx="3474720" cy="0"/>
          </a:xfrm>
          <a:prstGeom prst="line">
            <a:avLst/>
          </a:prstGeom>
          <a:noFill/>
          <a:ln w="12700">
            <a:solidFill>
              <a:srgbClr val="E5E0D2"/>
            </a:solidFill>
            <a:prstDash val="solid"/>
          </a:ln>
        </p:spPr>
        <p:txBody>
          <a:bodyPr/>
          <a:lstStyle/>
          <a:p>
            <a:endParaRPr lang="en-US"/>
          </a:p>
        </p:txBody>
      </p:sp>
      <p:sp>
        <p:nvSpPr>
          <p:cNvPr id="9" name="Text 6"/>
          <p:cNvSpPr/>
          <p:nvPr/>
        </p:nvSpPr>
        <p:spPr>
          <a:xfrm>
            <a:off x="7955280" y="3429000"/>
            <a:ext cx="3474720" cy="1051560"/>
          </a:xfrm>
          <a:prstGeom prst="rect">
            <a:avLst/>
          </a:prstGeom>
          <a:noFill/>
          <a:ln/>
        </p:spPr>
        <p:txBody>
          <a:bodyPr wrap="square" rtlCol="0" anchor="ctr"/>
          <a:lstStyle/>
          <a:p>
            <a:pPr marL="0" indent="0">
              <a:buNone/>
            </a:pPr>
            <a:r>
              <a:rPr lang="en-US" sz="1300" i="1">
                <a:solidFill>
                  <a:srgbClr val="222222"/>
                </a:solidFill>
                <a:latin typeface="Cambria" pitchFamily="34" charset="0"/>
                <a:ea typeface="Cambria" pitchFamily="34" charset="-122"/>
                <a:cs typeface="Cambria" pitchFamily="34" charset="-120"/>
              </a:rPr>
              <a:t>Cross-checked independently: 1-star patients waited 37.2 days on average; 5-star patients waited 15.9.</a:t>
            </a:r>
            <a:endParaRPr lang="en-US" sz="1300"/>
          </a:p>
        </p:txBody>
      </p:sp>
      <p:sp>
        <p:nvSpPr>
          <p:cNvPr id="10" name="Text 7"/>
          <p:cNvSpPr/>
          <p:nvPr/>
        </p:nvSpPr>
        <p:spPr>
          <a:xfrm>
            <a:off x="7955280" y="4572000"/>
            <a:ext cx="3474720" cy="1234440"/>
          </a:xfrm>
          <a:prstGeom prst="rect">
            <a:avLst/>
          </a:prstGeom>
          <a:noFill/>
          <a:ln/>
        </p:spPr>
        <p:txBody>
          <a:bodyPr wrap="square" rtlCol="0" anchor="ctr"/>
          <a:lstStyle/>
          <a:p>
            <a:pPr marL="0" indent="0">
              <a:buNone/>
            </a:pPr>
            <a:r>
              <a:rPr lang="en-US" sz="1300" b="1">
                <a:solidFill>
                  <a:srgbClr val="D8492F"/>
                </a:solidFill>
                <a:latin typeface="Calibri" pitchFamily="34" charset="0"/>
                <a:ea typeface="Calibri" pitchFamily="34" charset="-122"/>
                <a:cs typeface="Calibri" pitchFamily="34" charset="-120"/>
              </a:rPr>
              <a:t>Same story, independent variable. This is the most actionable finding in the data.</a:t>
            </a:r>
            <a:endParaRPr lang="en-US" sz="1300"/>
          </a:p>
        </p:txBody>
      </p:sp>
      <p:sp>
        <p:nvSpPr>
          <p:cNvPr id="11" name="Text 8"/>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4 · The evidence</a:t>
            </a:r>
            <a:endParaRPr lang="en-US" sz="1000"/>
          </a:p>
        </p:txBody>
      </p:sp>
      <p:sp>
        <p:nvSpPr>
          <p:cNvPr id="12" name="Text 9"/>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A3D3D"/>
        </a:solidFill>
        <a:effectLst/>
      </p:bgPr>
    </p:bg>
    <p:spTree>
      <p:nvGrpSpPr>
        <p:cNvPr id="1" name=""/>
        <p:cNvGrpSpPr/>
        <p:nvPr/>
      </p:nvGrpSpPr>
      <p:grpSpPr>
        <a:xfrm>
          <a:off x="0" y="0"/>
          <a:ext cx="0" cy="0"/>
          <a:chOff x="0" y="0"/>
          <a:chExt cx="0" cy="0"/>
        </a:xfrm>
      </p:grpSpPr>
      <p:sp>
        <p:nvSpPr>
          <p:cNvPr id="2" name="Text 0"/>
          <p:cNvSpPr/>
          <p:nvPr/>
        </p:nvSpPr>
        <p:spPr>
          <a:xfrm>
            <a:off x="548640" y="457200"/>
            <a:ext cx="9601200" cy="548640"/>
          </a:xfrm>
          <a:prstGeom prst="rect">
            <a:avLst/>
          </a:prstGeom>
          <a:noFill/>
          <a:ln/>
        </p:spPr>
        <p:txBody>
          <a:bodyPr wrap="square" rtlCol="0" anchor="ctr"/>
          <a:lstStyle/>
          <a:p>
            <a:pPr marL="0" indent="0">
              <a:buNone/>
            </a:pPr>
            <a:r>
              <a:rPr lang="en-US" sz="3000" b="1">
                <a:solidFill>
                  <a:srgbClr val="FFFFFF"/>
                </a:solidFill>
                <a:latin typeface="Cambria" pitchFamily="34" charset="0"/>
                <a:ea typeface="Cambria" pitchFamily="34" charset="-122"/>
                <a:cs typeface="Cambria" pitchFamily="34" charset="-120"/>
              </a:rPr>
              <a:t>What dissatisfaction actually costs</a:t>
            </a:r>
            <a:endParaRPr lang="en-US" sz="3000"/>
          </a:p>
        </p:txBody>
      </p:sp>
      <p:sp>
        <p:nvSpPr>
          <p:cNvPr id="3" name="Text 1"/>
          <p:cNvSpPr/>
          <p:nvPr/>
        </p:nvSpPr>
        <p:spPr>
          <a:xfrm>
            <a:off x="548640" y="1051560"/>
            <a:ext cx="10058400" cy="365760"/>
          </a:xfrm>
          <a:prstGeom prst="rect">
            <a:avLst/>
          </a:prstGeom>
          <a:noFill/>
          <a:ln/>
        </p:spPr>
        <p:txBody>
          <a:bodyPr wrap="square" rtlCol="0" anchor="ctr"/>
          <a:lstStyle/>
          <a:p>
            <a:pPr marL="0" indent="0">
              <a:buNone/>
            </a:pPr>
            <a:r>
              <a:rPr lang="en-US" sz="1400">
                <a:solidFill>
                  <a:srgbClr val="CADCDA"/>
                </a:solidFill>
                <a:latin typeface="Calibri" pitchFamily="34" charset="0"/>
                <a:ea typeface="Calibri" pitchFamily="34" charset="-122"/>
                <a:cs typeface="Calibri" pitchFamily="34" charset="-120"/>
              </a:rPr>
              <a:t>Isolated using MedCore's own billing data — the excess above what would happen anyway.</a:t>
            </a:r>
            <a:endParaRPr lang="en-US" sz="1400"/>
          </a:p>
        </p:txBody>
      </p:sp>
      <p:sp>
        <p:nvSpPr>
          <p:cNvPr id="4" name="Shape 2"/>
          <p:cNvSpPr/>
          <p:nvPr/>
        </p:nvSpPr>
        <p:spPr>
          <a:xfrm>
            <a:off x="548640" y="1737360"/>
            <a:ext cx="3520440" cy="1828800"/>
          </a:xfrm>
          <a:prstGeom prst="roundRect">
            <a:avLst>
              <a:gd name="adj" fmla="val 4000"/>
            </a:avLst>
          </a:prstGeom>
          <a:solidFill>
            <a:srgbClr val="FFFFFF"/>
          </a:solidFill>
          <a:ln w="9525">
            <a:solidFill>
              <a:srgbClr val="E5E0D2"/>
            </a:solidFill>
            <a:prstDash val="solid"/>
          </a:ln>
        </p:spPr>
        <p:txBody>
          <a:bodyPr/>
          <a:lstStyle/>
          <a:p>
            <a:endParaRPr lang="en-US"/>
          </a:p>
        </p:txBody>
      </p:sp>
      <p:sp>
        <p:nvSpPr>
          <p:cNvPr id="5" name="Text 3"/>
          <p:cNvSpPr/>
          <p:nvPr/>
        </p:nvSpPr>
        <p:spPr>
          <a:xfrm>
            <a:off x="685800" y="1828800"/>
            <a:ext cx="3246120" cy="1060704"/>
          </a:xfrm>
          <a:prstGeom prst="rect">
            <a:avLst/>
          </a:prstGeom>
          <a:noFill/>
          <a:ln/>
        </p:spPr>
        <p:txBody>
          <a:bodyPr wrap="square" lIns="0" tIns="0" rIns="0" bIns="0" rtlCol="0" anchor="b"/>
          <a:lstStyle/>
          <a:p>
            <a:pPr marL="0" indent="0" algn="l">
              <a:buNone/>
            </a:pPr>
            <a:r>
              <a:rPr lang="en-US" sz="3000" b="1">
                <a:solidFill>
                  <a:srgbClr val="D8492F"/>
                </a:solidFill>
                <a:latin typeface="Cambria" pitchFamily="34" charset="0"/>
                <a:ea typeface="Cambria" pitchFamily="34" charset="-122"/>
                <a:cs typeface="Cambria" pitchFamily="34" charset="-120"/>
              </a:rPr>
              <a:t>6.1x</a:t>
            </a:r>
            <a:endParaRPr lang="en-US" sz="3000"/>
          </a:p>
        </p:txBody>
      </p:sp>
      <p:sp>
        <p:nvSpPr>
          <p:cNvPr id="6" name="Text 4"/>
          <p:cNvSpPr/>
          <p:nvPr/>
        </p:nvSpPr>
        <p:spPr>
          <a:xfrm>
            <a:off x="685800" y="2834640"/>
            <a:ext cx="3246120" cy="694944"/>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more likely for At-Risk patients to no-show vs. satisfied (23.2% vs 3.8%)</a:t>
            </a:r>
            <a:endParaRPr lang="en-US" sz="1200"/>
          </a:p>
        </p:txBody>
      </p:sp>
      <p:sp>
        <p:nvSpPr>
          <p:cNvPr id="7" name="Shape 5"/>
          <p:cNvSpPr/>
          <p:nvPr/>
        </p:nvSpPr>
        <p:spPr>
          <a:xfrm>
            <a:off x="4251960" y="1737360"/>
            <a:ext cx="3520440" cy="1828800"/>
          </a:xfrm>
          <a:prstGeom prst="roundRect">
            <a:avLst>
              <a:gd name="adj" fmla="val 4000"/>
            </a:avLst>
          </a:prstGeom>
          <a:solidFill>
            <a:srgbClr val="FFFFFF"/>
          </a:solidFill>
          <a:ln w="9525">
            <a:solidFill>
              <a:srgbClr val="E5E0D2"/>
            </a:solidFill>
            <a:prstDash val="solid"/>
          </a:ln>
        </p:spPr>
        <p:txBody>
          <a:bodyPr/>
          <a:lstStyle/>
          <a:p>
            <a:endParaRPr lang="en-US"/>
          </a:p>
        </p:txBody>
      </p:sp>
      <p:sp>
        <p:nvSpPr>
          <p:cNvPr id="8" name="Text 6"/>
          <p:cNvSpPr/>
          <p:nvPr/>
        </p:nvSpPr>
        <p:spPr>
          <a:xfrm>
            <a:off x="4389120" y="1828800"/>
            <a:ext cx="3246120" cy="1060704"/>
          </a:xfrm>
          <a:prstGeom prst="rect">
            <a:avLst/>
          </a:prstGeom>
          <a:noFill/>
          <a:ln/>
        </p:spPr>
        <p:txBody>
          <a:bodyPr wrap="square" lIns="0" tIns="0" rIns="0" bIns="0" rtlCol="0" anchor="b"/>
          <a:lstStyle/>
          <a:p>
            <a:pPr marL="0" indent="0" algn="l">
              <a:buNone/>
            </a:pPr>
            <a:r>
              <a:rPr lang="en-US" sz="3000" b="1">
                <a:solidFill>
                  <a:srgbClr val="D8492F"/>
                </a:solidFill>
                <a:latin typeface="Cambria" pitchFamily="34" charset="0"/>
                <a:ea typeface="Cambria" pitchFamily="34" charset="-122"/>
                <a:cs typeface="Cambria" pitchFamily="34" charset="-120"/>
              </a:rPr>
              <a:t>$13.3M</a:t>
            </a:r>
            <a:endParaRPr lang="en-US" sz="3000"/>
          </a:p>
        </p:txBody>
      </p:sp>
      <p:sp>
        <p:nvSpPr>
          <p:cNvPr id="9" name="Text 7"/>
          <p:cNvSpPr/>
          <p:nvPr/>
        </p:nvSpPr>
        <p:spPr>
          <a:xfrm>
            <a:off x="4389120" y="2834640"/>
            <a:ext cx="3246120" cy="694944"/>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excess no-show revenue lost over 3 years to dissatisfaction</a:t>
            </a:r>
            <a:endParaRPr lang="en-US" sz="1200"/>
          </a:p>
        </p:txBody>
      </p:sp>
      <p:sp>
        <p:nvSpPr>
          <p:cNvPr id="10" name="Shape 8"/>
          <p:cNvSpPr/>
          <p:nvPr/>
        </p:nvSpPr>
        <p:spPr>
          <a:xfrm>
            <a:off x="7955280" y="1737360"/>
            <a:ext cx="3520440" cy="1828800"/>
          </a:xfrm>
          <a:prstGeom prst="roundRect">
            <a:avLst>
              <a:gd name="adj" fmla="val 4000"/>
            </a:avLst>
          </a:prstGeom>
          <a:solidFill>
            <a:srgbClr val="FFFFFF"/>
          </a:solidFill>
          <a:ln w="9525">
            <a:solidFill>
              <a:srgbClr val="E5E0D2"/>
            </a:solidFill>
            <a:prstDash val="solid"/>
          </a:ln>
        </p:spPr>
        <p:txBody>
          <a:bodyPr/>
          <a:lstStyle/>
          <a:p>
            <a:endParaRPr lang="en-US"/>
          </a:p>
        </p:txBody>
      </p:sp>
      <p:sp>
        <p:nvSpPr>
          <p:cNvPr id="11" name="Text 9"/>
          <p:cNvSpPr/>
          <p:nvPr/>
        </p:nvSpPr>
        <p:spPr>
          <a:xfrm>
            <a:off x="8092440" y="1828800"/>
            <a:ext cx="3246120" cy="1060704"/>
          </a:xfrm>
          <a:prstGeom prst="rect">
            <a:avLst/>
          </a:prstGeom>
          <a:noFill/>
          <a:ln/>
        </p:spPr>
        <p:txBody>
          <a:bodyPr wrap="square" lIns="0" tIns="0" rIns="0" bIns="0" rtlCol="0" anchor="b"/>
          <a:lstStyle/>
          <a:p>
            <a:pPr marL="0" indent="0" algn="l">
              <a:buNone/>
            </a:pPr>
            <a:r>
              <a:rPr lang="en-US" sz="3400" b="1">
                <a:solidFill>
                  <a:srgbClr val="D8492F"/>
                </a:solidFill>
                <a:latin typeface="Cambria" pitchFamily="34" charset="0"/>
                <a:ea typeface="Cambria" pitchFamily="34" charset="-122"/>
                <a:cs typeface="Cambria" pitchFamily="34" charset="-120"/>
              </a:rPr>
              <a:t>$4.4M</a:t>
            </a:r>
            <a:endParaRPr lang="en-US" sz="3400"/>
          </a:p>
        </p:txBody>
      </p:sp>
      <p:sp>
        <p:nvSpPr>
          <p:cNvPr id="12" name="Text 10"/>
          <p:cNvSpPr/>
          <p:nvPr/>
        </p:nvSpPr>
        <p:spPr>
          <a:xfrm>
            <a:off x="8092440" y="2834640"/>
            <a:ext cx="3246120" cy="694944"/>
          </a:xfrm>
          <a:prstGeom prst="rect">
            <a:avLst/>
          </a:prstGeom>
          <a:noFill/>
          <a:ln/>
        </p:spPr>
        <p:txBody>
          <a:bodyPr wrap="square" lIns="0" tIns="0" rIns="0" bIns="0" rtlCol="0" anchor="t"/>
          <a:lstStyle/>
          <a:p>
            <a:pPr marL="0" indent="0" algn="l">
              <a:buNone/>
            </a:pPr>
            <a:r>
              <a:rPr lang="en-US" sz="1200">
                <a:solidFill>
                  <a:srgbClr val="6B6B66"/>
                </a:solidFill>
                <a:latin typeface="Calibri" pitchFamily="34" charset="0"/>
                <a:ea typeface="Calibri" pitchFamily="34" charset="-122"/>
                <a:cs typeface="Calibri" pitchFamily="34" charset="-120"/>
              </a:rPr>
              <a:t>per year — the recoverable opportunity</a:t>
            </a:r>
            <a:endParaRPr lang="en-US" sz="1200"/>
          </a:p>
        </p:txBody>
      </p:sp>
      <p:sp>
        <p:nvSpPr>
          <p:cNvPr id="13" name="Shape 11"/>
          <p:cNvSpPr/>
          <p:nvPr/>
        </p:nvSpPr>
        <p:spPr>
          <a:xfrm>
            <a:off x="548640" y="3840480"/>
            <a:ext cx="10881360" cy="1314844"/>
          </a:xfrm>
          <a:prstGeom prst="roundRect">
            <a:avLst>
              <a:gd name="adj" fmla="val 3478"/>
            </a:avLst>
          </a:prstGeom>
          <a:solidFill>
            <a:srgbClr val="0F5C5C"/>
          </a:solidFill>
          <a:ln/>
        </p:spPr>
        <p:txBody>
          <a:bodyPr/>
          <a:lstStyle/>
          <a:p>
            <a:endParaRPr lang="en-US"/>
          </a:p>
        </p:txBody>
      </p:sp>
      <p:sp>
        <p:nvSpPr>
          <p:cNvPr id="14" name="Text 12"/>
          <p:cNvSpPr/>
          <p:nvPr/>
        </p:nvSpPr>
        <p:spPr>
          <a:xfrm>
            <a:off x="914400" y="4069080"/>
            <a:ext cx="10149840" cy="1645920"/>
          </a:xfrm>
          <a:prstGeom prst="rect">
            <a:avLst/>
          </a:prstGeom>
          <a:noFill/>
          <a:ln/>
        </p:spPr>
        <p:txBody>
          <a:bodyPr wrap="square" rtlCol="0" anchor="t"/>
          <a:lstStyle/>
          <a:p>
            <a:pPr marL="0" indent="0">
              <a:buNone/>
            </a:pPr>
            <a:r>
              <a:rPr lang="en-US" sz="1500" i="1">
                <a:solidFill>
                  <a:srgbClr val="FFFFFF"/>
                </a:solidFill>
                <a:latin typeface="Cambria" pitchFamily="34" charset="0"/>
                <a:ea typeface="Cambria" pitchFamily="34" charset="-122"/>
                <a:cs typeface="Cambria" pitchFamily="34" charset="-120"/>
              </a:rPr>
              <a:t>Why $4.4M and not the $12.9M gross figure? Every patient population no-shows sometimes — even satisfied ones, 3.8% of the time. We only count the excess above that baseline, so this number reflects what dissatisfaction is costing you specifically, not what no-shows cost in general.</a:t>
            </a:r>
            <a:endParaRPr lang="en-US" sz="1500"/>
          </a:p>
        </p:txBody>
      </p:sp>
      <p:sp>
        <p:nvSpPr>
          <p:cNvPr id="15" name="Text 13"/>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CADCDA"/>
                </a:solidFill>
                <a:latin typeface="Calibri" pitchFamily="34" charset="0"/>
                <a:ea typeface="Calibri" pitchFamily="34" charset="-122"/>
                <a:cs typeface="Calibri" pitchFamily="34" charset="-120"/>
              </a:rPr>
              <a:t>Section 4 · The evidence</a:t>
            </a:r>
            <a:endParaRPr lang="en-US" sz="1000"/>
          </a:p>
        </p:txBody>
      </p:sp>
      <p:sp>
        <p:nvSpPr>
          <p:cNvPr id="16" name="Text 14"/>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CADCDA"/>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7" name="Shape 5"/>
          <p:cNvSpPr/>
          <p:nvPr/>
        </p:nvSpPr>
        <p:spPr>
          <a:xfrm>
            <a:off x="886548" y="1672485"/>
            <a:ext cx="9779350" cy="3592174"/>
          </a:xfrm>
          <a:prstGeom prst="roundRect">
            <a:avLst>
              <a:gd name="adj" fmla="val 1684"/>
            </a:avLst>
          </a:prstGeom>
          <a:solidFill>
            <a:srgbClr val="0F5C5C"/>
          </a:solidFill>
          <a:ln/>
        </p:spPr>
        <p:txBody>
          <a:bodyPr/>
          <a:lstStyle/>
          <a:p>
            <a:endParaRPr lang="en-US"/>
          </a:p>
        </p:txBody>
      </p:sp>
      <p:sp>
        <p:nvSpPr>
          <p:cNvPr id="9" name="Text 7"/>
          <p:cNvSpPr/>
          <p:nvPr/>
        </p:nvSpPr>
        <p:spPr>
          <a:xfrm>
            <a:off x="1526101" y="2167128"/>
            <a:ext cx="7964740" cy="914400"/>
          </a:xfrm>
          <a:prstGeom prst="rect">
            <a:avLst/>
          </a:prstGeom>
          <a:noFill/>
          <a:ln/>
        </p:spPr>
        <p:txBody>
          <a:bodyPr wrap="square" rtlCol="0" anchor="ctr"/>
          <a:lstStyle/>
          <a:p>
            <a:pPr marL="0" indent="0">
              <a:buNone/>
            </a:pPr>
            <a:r>
              <a:rPr lang="en-US" sz="2000">
                <a:solidFill>
                  <a:srgbClr val="FFFFFF"/>
                </a:solidFill>
                <a:latin typeface="Calibri" pitchFamily="34" charset="0"/>
                <a:ea typeface="Calibri" pitchFamily="34" charset="-122"/>
                <a:cs typeface="Calibri" pitchFamily="34" charset="-120"/>
              </a:rPr>
              <a:t>1. Understand why patients are unhappy — theme classification on the free-text comments.</a:t>
            </a:r>
            <a:endParaRPr lang="en-US" sz="2000"/>
          </a:p>
        </p:txBody>
      </p:sp>
      <p:sp>
        <p:nvSpPr>
          <p:cNvPr id="10" name="Text 8"/>
          <p:cNvSpPr/>
          <p:nvPr/>
        </p:nvSpPr>
        <p:spPr>
          <a:xfrm>
            <a:off x="1526102" y="3104389"/>
            <a:ext cx="8201222" cy="914400"/>
          </a:xfrm>
          <a:prstGeom prst="rect">
            <a:avLst/>
          </a:prstGeom>
          <a:noFill/>
          <a:ln/>
        </p:spPr>
        <p:txBody>
          <a:bodyPr wrap="square" rtlCol="0" anchor="ctr"/>
          <a:lstStyle/>
          <a:p>
            <a:pPr marL="0" indent="0">
              <a:buNone/>
            </a:pPr>
            <a:r>
              <a:rPr lang="en-US" sz="2000">
                <a:solidFill>
                  <a:srgbClr val="FFFFFF"/>
                </a:solidFill>
                <a:latin typeface="Calibri" pitchFamily="34" charset="0"/>
                <a:ea typeface="Calibri" pitchFamily="34" charset="-122"/>
                <a:cs typeface="Calibri" pitchFamily="34" charset="-120"/>
              </a:rPr>
              <a:t>2. Predict risk before the visit happens — using only information available at booking time.</a:t>
            </a:r>
            <a:endParaRPr lang="en-US" sz="2000"/>
          </a:p>
        </p:txBody>
      </p:sp>
      <p:sp>
        <p:nvSpPr>
          <p:cNvPr id="2" name="Text 0"/>
          <p:cNvSpPr/>
          <p:nvPr/>
        </p:nvSpPr>
        <p:spPr>
          <a:xfrm>
            <a:off x="548640" y="411480"/>
            <a:ext cx="10515600" cy="548640"/>
          </a:xfrm>
          <a:prstGeom prst="rect">
            <a:avLst/>
          </a:prstGeom>
          <a:noFill/>
          <a:ln/>
        </p:spPr>
        <p:txBody>
          <a:bodyPr wrap="square" rtlCol="0" anchor="ctr"/>
          <a:lstStyle/>
          <a:p>
            <a:pPr marL="0" indent="0">
              <a:buNone/>
            </a:pPr>
            <a:r>
              <a:rPr lang="en-US" sz="2800" b="1">
                <a:solidFill>
                  <a:srgbClr val="0F5C5C"/>
                </a:solidFill>
                <a:latin typeface="Cambria" pitchFamily="34" charset="0"/>
                <a:ea typeface="Cambria" pitchFamily="34" charset="-122"/>
                <a:cs typeface="Cambria" pitchFamily="34" charset="-120"/>
              </a:rPr>
              <a:t>We aimed the AI at what actually creates value</a:t>
            </a:r>
            <a:endParaRPr lang="en-US" sz="2800"/>
          </a:p>
        </p:txBody>
      </p:sp>
      <p:sp>
        <p:nvSpPr>
          <p:cNvPr id="12" name="Text 10"/>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5 · The AI solution</a:t>
            </a:r>
            <a:endParaRPr lang="en-US" sz="1000"/>
          </a:p>
        </p:txBody>
      </p:sp>
      <p:sp>
        <p:nvSpPr>
          <p:cNvPr id="13" name="Text 11"/>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
        <p:nvSpPr>
          <p:cNvPr id="14" name="Text 8">
            <a:extLst>
              <a:ext uri="{FF2B5EF4-FFF2-40B4-BE49-F238E27FC236}">
                <a16:creationId xmlns:a16="http://schemas.microsoft.com/office/drawing/2014/main" id="{F2DECA27-6904-6871-308A-6CC44EADC6BE}"/>
              </a:ext>
            </a:extLst>
          </p:cNvPr>
          <p:cNvSpPr/>
          <p:nvPr/>
        </p:nvSpPr>
        <p:spPr>
          <a:xfrm>
            <a:off x="1526101" y="4018789"/>
            <a:ext cx="7964739" cy="914400"/>
          </a:xfrm>
          <a:prstGeom prst="rect">
            <a:avLst/>
          </a:prstGeom>
          <a:noFill/>
          <a:ln/>
        </p:spPr>
        <p:txBody>
          <a:bodyPr wrap="square" rtlCol="0" anchor="ctr"/>
          <a:lstStyle/>
          <a:p>
            <a:r>
              <a:rPr lang="en-US" sz="2000">
                <a:solidFill>
                  <a:srgbClr val="FFFFFF"/>
                </a:solidFill>
                <a:latin typeface="Calibri" pitchFamily="34" charset="0"/>
                <a:ea typeface="Calibri" pitchFamily="34" charset="-122"/>
                <a:cs typeface="Calibri" pitchFamily="34" charset="-120"/>
              </a:rPr>
              <a:t>3. Predicts the likelihood of a no-show based on rating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0" name="Shape 4">
            <a:extLst>
              <a:ext uri="{FF2B5EF4-FFF2-40B4-BE49-F238E27FC236}">
                <a16:creationId xmlns:a16="http://schemas.microsoft.com/office/drawing/2014/main" id="{41F98C67-9995-062B-D981-189646D9B7B2}"/>
              </a:ext>
            </a:extLst>
          </p:cNvPr>
          <p:cNvSpPr/>
          <p:nvPr/>
        </p:nvSpPr>
        <p:spPr>
          <a:xfrm>
            <a:off x="548640" y="4215384"/>
            <a:ext cx="10927080" cy="841248"/>
          </a:xfrm>
          <a:prstGeom prst="roundRect">
            <a:avLst>
              <a:gd name="adj" fmla="val 6522"/>
            </a:avLst>
          </a:prstGeom>
          <a:solidFill>
            <a:srgbClr val="FFFFFF"/>
          </a:solidFill>
          <a:ln w="6350">
            <a:solidFill>
              <a:srgbClr val="E5E0D2"/>
            </a:solidFill>
            <a:prstDash val="solid"/>
          </a:ln>
        </p:spPr>
        <p:txBody>
          <a:bodyPr/>
          <a:lstStyle/>
          <a:p>
            <a:endParaRPr lang="en-US"/>
          </a:p>
        </p:txBody>
      </p:sp>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a:solidFill>
                  <a:srgbClr val="0F5C5C"/>
                </a:solidFill>
                <a:latin typeface="Cambria" pitchFamily="34" charset="0"/>
                <a:ea typeface="Cambria" pitchFamily="34" charset="-122"/>
                <a:cs typeface="Cambria" pitchFamily="34" charset="-120"/>
              </a:rPr>
              <a:t>Business Impact</a:t>
            </a:r>
            <a:endParaRPr lang="en-US" sz="3000"/>
          </a:p>
        </p:txBody>
      </p:sp>
      <p:sp>
        <p:nvSpPr>
          <p:cNvPr id="3" name="Shape 1"/>
          <p:cNvSpPr/>
          <p:nvPr/>
        </p:nvSpPr>
        <p:spPr>
          <a:xfrm>
            <a:off x="548640" y="1417320"/>
            <a:ext cx="10927080" cy="841248"/>
          </a:xfrm>
          <a:prstGeom prst="roundRect">
            <a:avLst>
              <a:gd name="adj" fmla="val 6522"/>
            </a:avLst>
          </a:prstGeom>
          <a:solidFill>
            <a:srgbClr val="F5F1E8"/>
          </a:solidFill>
          <a:ln w="6350">
            <a:solidFill>
              <a:srgbClr val="E5E0D2"/>
            </a:solidFill>
            <a:prstDash val="solid"/>
          </a:ln>
        </p:spPr>
        <p:txBody>
          <a:bodyPr/>
          <a:lstStyle/>
          <a:p>
            <a:endParaRPr lang="en-US"/>
          </a:p>
        </p:txBody>
      </p:sp>
      <p:sp>
        <p:nvSpPr>
          <p:cNvPr id="4" name="Text 2"/>
          <p:cNvSpPr/>
          <p:nvPr/>
        </p:nvSpPr>
        <p:spPr>
          <a:xfrm>
            <a:off x="868680" y="1417320"/>
            <a:ext cx="2926080" cy="841248"/>
          </a:xfrm>
          <a:prstGeom prst="rect">
            <a:avLst/>
          </a:prstGeom>
          <a:noFill/>
          <a:ln/>
        </p:spPr>
        <p:txBody>
          <a:bodyPr wrap="square" rtlCol="0" anchor="ctr"/>
          <a:lstStyle/>
          <a:p>
            <a:pPr marL="0" indent="0">
              <a:buNone/>
            </a:pPr>
            <a:r>
              <a:rPr lang="en-US" sz="1600" b="1">
                <a:solidFill>
                  <a:srgbClr val="D8492F"/>
                </a:solidFill>
                <a:latin typeface="Cambria" pitchFamily="34" charset="0"/>
                <a:ea typeface="Cambria" pitchFamily="34" charset="-122"/>
                <a:cs typeface="Cambria" pitchFamily="34" charset="-120"/>
              </a:rPr>
              <a:t>$4.4M / year</a:t>
            </a:r>
            <a:endParaRPr lang="en-US" sz="1600"/>
          </a:p>
        </p:txBody>
      </p:sp>
      <p:sp>
        <p:nvSpPr>
          <p:cNvPr id="5" name="Text 3"/>
          <p:cNvSpPr/>
          <p:nvPr/>
        </p:nvSpPr>
        <p:spPr>
          <a:xfrm>
            <a:off x="3931920" y="1417320"/>
            <a:ext cx="7315200" cy="841248"/>
          </a:xfrm>
          <a:prstGeom prst="rect">
            <a:avLst/>
          </a:prstGeom>
          <a:noFill/>
          <a:ln/>
        </p:spPr>
        <p:txBody>
          <a:bodyPr wrap="square" rtlCol="0" anchor="ctr"/>
          <a:lstStyle/>
          <a:p>
            <a:pPr marL="0" indent="0">
              <a:buNone/>
            </a:pPr>
            <a:r>
              <a:rPr lang="en-US" sz="1400">
                <a:solidFill>
                  <a:srgbClr val="222222"/>
                </a:solidFill>
                <a:latin typeface="Calibri" pitchFamily="34" charset="0"/>
                <a:ea typeface="Calibri" pitchFamily="34" charset="-122"/>
                <a:cs typeface="Calibri" pitchFamily="34" charset="-120"/>
              </a:rPr>
              <a:t>recoverable by reducing no-shows caused by dissatisfaction</a:t>
            </a:r>
            <a:endParaRPr lang="en-US" sz="1400"/>
          </a:p>
        </p:txBody>
      </p:sp>
      <p:sp>
        <p:nvSpPr>
          <p:cNvPr id="6" name="Shape 4"/>
          <p:cNvSpPr/>
          <p:nvPr/>
        </p:nvSpPr>
        <p:spPr>
          <a:xfrm>
            <a:off x="548640" y="2350008"/>
            <a:ext cx="10927080" cy="841248"/>
          </a:xfrm>
          <a:prstGeom prst="roundRect">
            <a:avLst>
              <a:gd name="adj" fmla="val 6522"/>
            </a:avLst>
          </a:prstGeom>
          <a:solidFill>
            <a:srgbClr val="FFFFFF"/>
          </a:solidFill>
          <a:ln w="6350">
            <a:solidFill>
              <a:srgbClr val="E5E0D2"/>
            </a:solidFill>
            <a:prstDash val="solid"/>
          </a:ln>
        </p:spPr>
        <p:txBody>
          <a:bodyPr/>
          <a:lstStyle/>
          <a:p>
            <a:endParaRPr lang="en-US"/>
          </a:p>
        </p:txBody>
      </p:sp>
      <p:sp>
        <p:nvSpPr>
          <p:cNvPr id="7" name="Text 5"/>
          <p:cNvSpPr/>
          <p:nvPr/>
        </p:nvSpPr>
        <p:spPr>
          <a:xfrm>
            <a:off x="868680" y="2350008"/>
            <a:ext cx="2926080" cy="841248"/>
          </a:xfrm>
          <a:prstGeom prst="rect">
            <a:avLst/>
          </a:prstGeom>
          <a:noFill/>
          <a:ln/>
        </p:spPr>
        <p:txBody>
          <a:bodyPr wrap="square" rtlCol="0" anchor="ctr"/>
          <a:lstStyle/>
          <a:p>
            <a:pPr marL="0" indent="0">
              <a:buNone/>
            </a:pPr>
            <a:r>
              <a:rPr lang="en-US" sz="1600" b="1">
                <a:solidFill>
                  <a:srgbClr val="D8492F"/>
                </a:solidFill>
                <a:latin typeface="Cambria" pitchFamily="34" charset="0"/>
                <a:ea typeface="Cambria" pitchFamily="34" charset="-122"/>
                <a:cs typeface="Cambria" pitchFamily="34" charset="-120"/>
              </a:rPr>
              <a:t>Earlier catches</a:t>
            </a:r>
            <a:endParaRPr lang="en-US" sz="1600"/>
          </a:p>
        </p:txBody>
      </p:sp>
      <p:sp>
        <p:nvSpPr>
          <p:cNvPr id="8" name="Text 6"/>
          <p:cNvSpPr/>
          <p:nvPr/>
        </p:nvSpPr>
        <p:spPr>
          <a:xfrm>
            <a:off x="3931920" y="2350008"/>
            <a:ext cx="7315200" cy="841248"/>
          </a:xfrm>
          <a:prstGeom prst="rect">
            <a:avLst/>
          </a:prstGeom>
          <a:noFill/>
          <a:ln/>
        </p:spPr>
        <p:txBody>
          <a:bodyPr wrap="square" rtlCol="0" anchor="ctr"/>
          <a:lstStyle/>
          <a:p>
            <a:pPr marL="0" indent="0">
              <a:buNone/>
            </a:pPr>
            <a:r>
              <a:rPr lang="en-US" sz="1400">
                <a:solidFill>
                  <a:srgbClr val="222222"/>
                </a:solidFill>
                <a:latin typeface="Calibri" pitchFamily="34" charset="0"/>
                <a:ea typeface="Calibri" pitchFamily="34" charset="-122"/>
                <a:cs typeface="Calibri" pitchFamily="34" charset="-120"/>
              </a:rPr>
              <a:t>managers see problems as they happen, instead of waiting for reports</a:t>
            </a:r>
            <a:endParaRPr lang="en-US" sz="1400"/>
          </a:p>
        </p:txBody>
      </p:sp>
      <p:sp>
        <p:nvSpPr>
          <p:cNvPr id="9" name="Shape 7"/>
          <p:cNvSpPr/>
          <p:nvPr/>
        </p:nvSpPr>
        <p:spPr>
          <a:xfrm>
            <a:off x="548640" y="3282696"/>
            <a:ext cx="10927080" cy="841248"/>
          </a:xfrm>
          <a:prstGeom prst="roundRect">
            <a:avLst>
              <a:gd name="adj" fmla="val 6522"/>
            </a:avLst>
          </a:prstGeom>
          <a:solidFill>
            <a:srgbClr val="F5F1E8"/>
          </a:solidFill>
          <a:ln w="6350">
            <a:solidFill>
              <a:srgbClr val="E5E0D2"/>
            </a:solidFill>
            <a:prstDash val="solid"/>
          </a:ln>
        </p:spPr>
        <p:txBody>
          <a:bodyPr/>
          <a:lstStyle/>
          <a:p>
            <a:endParaRPr lang="en-US"/>
          </a:p>
        </p:txBody>
      </p:sp>
      <p:sp>
        <p:nvSpPr>
          <p:cNvPr id="10" name="Text 8"/>
          <p:cNvSpPr/>
          <p:nvPr/>
        </p:nvSpPr>
        <p:spPr>
          <a:xfrm>
            <a:off x="868680" y="3282696"/>
            <a:ext cx="2926080" cy="841248"/>
          </a:xfrm>
          <a:prstGeom prst="rect">
            <a:avLst/>
          </a:prstGeom>
          <a:noFill/>
          <a:ln/>
        </p:spPr>
        <p:txBody>
          <a:bodyPr wrap="square" rtlCol="0" anchor="ctr"/>
          <a:lstStyle/>
          <a:p>
            <a:pPr marL="0" indent="0">
              <a:buNone/>
            </a:pPr>
            <a:r>
              <a:rPr lang="en-US" sz="1600" b="1">
                <a:solidFill>
                  <a:srgbClr val="D8492F"/>
                </a:solidFill>
                <a:latin typeface="Cambria" pitchFamily="34" charset="0"/>
                <a:ea typeface="Cambria" pitchFamily="34" charset="-122"/>
                <a:cs typeface="Cambria" pitchFamily="34" charset="-120"/>
              </a:rPr>
              <a:t>Fixing the biggest issue</a:t>
            </a:r>
            <a:endParaRPr lang="en-US" sz="1600"/>
          </a:p>
        </p:txBody>
      </p:sp>
      <p:sp>
        <p:nvSpPr>
          <p:cNvPr id="11" name="Text 9"/>
          <p:cNvSpPr/>
          <p:nvPr/>
        </p:nvSpPr>
        <p:spPr>
          <a:xfrm>
            <a:off x="3931920" y="3282696"/>
            <a:ext cx="7315200" cy="841248"/>
          </a:xfrm>
          <a:prstGeom prst="rect">
            <a:avLst/>
          </a:prstGeom>
          <a:noFill/>
          <a:ln/>
        </p:spPr>
        <p:txBody>
          <a:bodyPr wrap="square" rtlCol="0" anchor="ctr"/>
          <a:lstStyle/>
          <a:p>
            <a:r>
              <a:rPr lang="en-US" sz="1400">
                <a:solidFill>
                  <a:srgbClr val="222222"/>
                </a:solidFill>
                <a:latin typeface="Calibri" pitchFamily="34" charset="0"/>
                <a:ea typeface="Calibri" pitchFamily="34" charset="-122"/>
                <a:cs typeface="Calibri" pitchFamily="34" charset="-120"/>
              </a:rPr>
              <a:t>Scheduling improvements will lower wait times and increase satisfaction</a:t>
            </a:r>
            <a:endParaRPr lang="en-US" sz="1400"/>
          </a:p>
        </p:txBody>
      </p:sp>
      <p:sp>
        <p:nvSpPr>
          <p:cNvPr id="14" name="Text 12"/>
          <p:cNvSpPr/>
          <p:nvPr/>
        </p:nvSpPr>
        <p:spPr>
          <a:xfrm>
            <a:off x="3931920" y="4215384"/>
            <a:ext cx="7315200" cy="841248"/>
          </a:xfrm>
          <a:prstGeom prst="rect">
            <a:avLst/>
          </a:prstGeom>
          <a:noFill/>
          <a:ln/>
        </p:spPr>
        <p:txBody>
          <a:bodyPr wrap="square" rtlCol="0" anchor="ctr"/>
          <a:lstStyle/>
          <a:p>
            <a:pPr marL="0" indent="0">
              <a:buNone/>
            </a:pPr>
            <a:endParaRPr lang="en-US" sz="1400"/>
          </a:p>
        </p:txBody>
      </p:sp>
      <p:sp>
        <p:nvSpPr>
          <p:cNvPr id="16" name="Text 14"/>
          <p:cNvSpPr/>
          <p:nvPr/>
        </p:nvSpPr>
        <p:spPr>
          <a:xfrm>
            <a:off x="868680" y="4224528"/>
            <a:ext cx="2926080" cy="841248"/>
          </a:xfrm>
          <a:prstGeom prst="rect">
            <a:avLst/>
          </a:prstGeom>
          <a:noFill/>
          <a:ln/>
        </p:spPr>
        <p:txBody>
          <a:bodyPr wrap="square" rtlCol="0" anchor="ctr"/>
          <a:lstStyle/>
          <a:p>
            <a:pPr marL="0" indent="0">
              <a:buNone/>
            </a:pPr>
            <a:r>
              <a:rPr lang="en-US" sz="1600" b="1">
                <a:solidFill>
                  <a:srgbClr val="D8492F"/>
                </a:solidFill>
                <a:latin typeface="Cambria" pitchFamily="34" charset="0"/>
                <a:ea typeface="Cambria" pitchFamily="34" charset="-122"/>
                <a:cs typeface="Cambria" pitchFamily="34" charset="-120"/>
              </a:rPr>
              <a:t>No new hiring</a:t>
            </a:r>
            <a:endParaRPr lang="en-US" sz="1600"/>
          </a:p>
        </p:txBody>
      </p:sp>
      <p:sp>
        <p:nvSpPr>
          <p:cNvPr id="17" name="Text 15"/>
          <p:cNvSpPr/>
          <p:nvPr/>
        </p:nvSpPr>
        <p:spPr>
          <a:xfrm>
            <a:off x="3931920" y="4159101"/>
            <a:ext cx="7315200" cy="841248"/>
          </a:xfrm>
          <a:prstGeom prst="rect">
            <a:avLst/>
          </a:prstGeom>
          <a:noFill/>
          <a:ln/>
        </p:spPr>
        <p:txBody>
          <a:bodyPr wrap="square" rtlCol="0" anchor="ctr"/>
          <a:lstStyle/>
          <a:p>
            <a:pPr marL="0" indent="0">
              <a:buNone/>
            </a:pPr>
            <a:r>
              <a:rPr lang="en-US" sz="1400">
                <a:solidFill>
                  <a:srgbClr val="222222"/>
                </a:solidFill>
                <a:latin typeface="Calibri" pitchFamily="34" charset="0"/>
                <a:ea typeface="Calibri" pitchFamily="34" charset="-122"/>
                <a:cs typeface="Calibri" pitchFamily="34" charset="-120"/>
              </a:rPr>
              <a:t>the data already exists — it just needs to be used</a:t>
            </a:r>
            <a:endParaRPr lang="en-US" sz="1400"/>
          </a:p>
        </p:txBody>
      </p:sp>
      <p:sp>
        <p:nvSpPr>
          <p:cNvPr id="18" name="Text 16"/>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 6 · Expected business impact</a:t>
            </a:r>
            <a:endParaRPr lang="en-US" sz="1000"/>
          </a:p>
        </p:txBody>
      </p:sp>
      <p:sp>
        <p:nvSpPr>
          <p:cNvPr id="19" name="Text 17"/>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marL="0" indent="0">
              <a:buNone/>
            </a:pPr>
            <a:r>
              <a:rPr lang="en-US" sz="2800" b="1">
                <a:solidFill>
                  <a:srgbClr val="0F5C5C"/>
                </a:solidFill>
                <a:latin typeface="Cambria" pitchFamily="34" charset="0"/>
                <a:ea typeface="Cambria" pitchFamily="34" charset="-122"/>
                <a:cs typeface="Cambria" pitchFamily="34" charset="-120"/>
              </a:rPr>
              <a:t>Getting started, and where this goes next</a:t>
            </a:r>
            <a:endParaRPr lang="en-US" sz="2800"/>
          </a:p>
        </p:txBody>
      </p:sp>
      <p:sp>
        <p:nvSpPr>
          <p:cNvPr id="3" name="Shape 1"/>
          <p:cNvSpPr/>
          <p:nvPr/>
        </p:nvSpPr>
        <p:spPr>
          <a:xfrm>
            <a:off x="548640" y="1417320"/>
            <a:ext cx="5349240" cy="4572000"/>
          </a:xfrm>
          <a:prstGeom prst="roundRect">
            <a:avLst>
              <a:gd name="adj" fmla="val 1600"/>
            </a:avLst>
          </a:prstGeom>
          <a:solidFill>
            <a:srgbClr val="F5F1E8"/>
          </a:solidFill>
          <a:ln w="9525">
            <a:solidFill>
              <a:srgbClr val="E5E0D2"/>
            </a:solidFill>
            <a:prstDash val="solid"/>
          </a:ln>
        </p:spPr>
        <p:txBody>
          <a:bodyPr/>
          <a:lstStyle/>
          <a:p>
            <a:endParaRPr lang="en-US"/>
          </a:p>
        </p:txBody>
      </p:sp>
      <p:sp>
        <p:nvSpPr>
          <p:cNvPr id="4" name="Text 2"/>
          <p:cNvSpPr/>
          <p:nvPr/>
        </p:nvSpPr>
        <p:spPr>
          <a:xfrm>
            <a:off x="868680" y="1645920"/>
            <a:ext cx="4754880" cy="457200"/>
          </a:xfrm>
          <a:prstGeom prst="rect">
            <a:avLst/>
          </a:prstGeom>
          <a:noFill/>
          <a:ln/>
        </p:spPr>
        <p:txBody>
          <a:bodyPr wrap="square" rtlCol="0" anchor="ctr"/>
          <a:lstStyle/>
          <a:p>
            <a:pPr marL="0" indent="0">
              <a:buNone/>
            </a:pPr>
            <a:r>
              <a:rPr lang="en-US" sz="1800" b="1">
                <a:solidFill>
                  <a:srgbClr val="0F5C5C"/>
                </a:solidFill>
                <a:latin typeface="Cambria" pitchFamily="34" charset="0"/>
                <a:ea typeface="Cambria" pitchFamily="34" charset="-122"/>
                <a:cs typeface="Cambria" pitchFamily="34" charset="-120"/>
              </a:rPr>
              <a:t>Implementation</a:t>
            </a:r>
            <a:endParaRPr lang="en-US" sz="1800"/>
          </a:p>
        </p:txBody>
      </p:sp>
      <p:sp>
        <p:nvSpPr>
          <p:cNvPr id="5" name="Text 3"/>
          <p:cNvSpPr/>
          <p:nvPr/>
        </p:nvSpPr>
        <p:spPr>
          <a:xfrm>
            <a:off x="868680" y="2240280"/>
            <a:ext cx="4754880" cy="822960"/>
          </a:xfrm>
          <a:prstGeom prst="rect">
            <a:avLst/>
          </a:prstGeom>
          <a:noFill/>
          <a:ln/>
        </p:spPr>
        <p:txBody>
          <a:bodyPr wrap="square" rtlCol="0" anchor="ctr"/>
          <a:lstStyle/>
          <a:p>
            <a:pPr marL="342900" indent="-342900">
              <a:buSzPct val="100000"/>
              <a:buChar char="•"/>
            </a:pPr>
            <a:r>
              <a:rPr lang="en-US" sz="1350">
                <a:solidFill>
                  <a:srgbClr val="222222"/>
                </a:solidFill>
                <a:latin typeface="Calibri" pitchFamily="34" charset="0"/>
                <a:ea typeface="Calibri" pitchFamily="34" charset="-122"/>
                <a:cs typeface="Calibri" pitchFamily="34" charset="-120"/>
              </a:rPr>
              <a:t>Collect more real patient comments, especially Wait Time, before auto-classifying new feedback</a:t>
            </a:r>
            <a:endParaRPr lang="en-US" sz="1350"/>
          </a:p>
        </p:txBody>
      </p:sp>
      <p:sp>
        <p:nvSpPr>
          <p:cNvPr id="6" name="Text 4"/>
          <p:cNvSpPr/>
          <p:nvPr/>
        </p:nvSpPr>
        <p:spPr>
          <a:xfrm>
            <a:off x="868680" y="3136392"/>
            <a:ext cx="4754880" cy="822960"/>
          </a:xfrm>
          <a:prstGeom prst="rect">
            <a:avLst/>
          </a:prstGeom>
          <a:noFill/>
          <a:ln/>
        </p:spPr>
        <p:txBody>
          <a:bodyPr wrap="square" rtlCol="0" anchor="ctr"/>
          <a:lstStyle/>
          <a:p>
            <a:pPr marL="342900" indent="-342900">
              <a:buSzPct val="100000"/>
              <a:buChar char="•"/>
            </a:pPr>
            <a:r>
              <a:rPr lang="en-US" sz="1350">
                <a:solidFill>
                  <a:srgbClr val="222222"/>
                </a:solidFill>
                <a:latin typeface="Calibri" pitchFamily="34" charset="0"/>
                <a:ea typeface="Calibri" pitchFamily="34" charset="-122"/>
                <a:cs typeface="Calibri" pitchFamily="34" charset="-120"/>
              </a:rPr>
              <a:t>For now: best for historical feedback, not fully automated</a:t>
            </a:r>
            <a:endParaRPr lang="en-US" sz="1350"/>
          </a:p>
        </p:txBody>
      </p:sp>
      <p:sp>
        <p:nvSpPr>
          <p:cNvPr id="7" name="Text 5"/>
          <p:cNvSpPr/>
          <p:nvPr/>
        </p:nvSpPr>
        <p:spPr>
          <a:xfrm>
            <a:off x="868680" y="4032504"/>
            <a:ext cx="4754880" cy="822960"/>
          </a:xfrm>
          <a:prstGeom prst="rect">
            <a:avLst/>
          </a:prstGeom>
          <a:noFill/>
          <a:ln/>
        </p:spPr>
        <p:txBody>
          <a:bodyPr wrap="square" rtlCol="0" anchor="ctr"/>
          <a:lstStyle/>
          <a:p>
            <a:pPr marL="342900" indent="-342900">
              <a:buSzPct val="100000"/>
              <a:buChar char="•"/>
            </a:pPr>
            <a:r>
              <a:rPr lang="en-US" sz="1350">
                <a:solidFill>
                  <a:srgbClr val="222222"/>
                </a:solidFill>
                <a:latin typeface="Calibri" pitchFamily="34" charset="0"/>
                <a:ea typeface="Calibri" pitchFamily="34" charset="-122"/>
                <a:cs typeface="Calibri" pitchFamily="34" charset="-120"/>
              </a:rPr>
              <a:t>Start with a pilot in 2–3 departments, then expand</a:t>
            </a:r>
            <a:endParaRPr lang="en-US" sz="1350"/>
          </a:p>
        </p:txBody>
      </p:sp>
      <p:sp>
        <p:nvSpPr>
          <p:cNvPr id="8" name="Text 6"/>
          <p:cNvSpPr/>
          <p:nvPr/>
        </p:nvSpPr>
        <p:spPr>
          <a:xfrm>
            <a:off x="868680" y="4928616"/>
            <a:ext cx="4754880" cy="822960"/>
          </a:xfrm>
          <a:prstGeom prst="rect">
            <a:avLst/>
          </a:prstGeom>
          <a:noFill/>
          <a:ln/>
        </p:spPr>
        <p:txBody>
          <a:bodyPr wrap="square" rtlCol="0" anchor="ctr"/>
          <a:lstStyle/>
          <a:p>
            <a:pPr marL="342900" indent="-342900">
              <a:buSzPct val="100000"/>
              <a:buChar char="•"/>
            </a:pPr>
            <a:r>
              <a:rPr lang="en-US" sz="1350">
                <a:solidFill>
                  <a:srgbClr val="222222"/>
                </a:solidFill>
                <a:latin typeface="Calibri" pitchFamily="34" charset="0"/>
                <a:ea typeface="Calibri" pitchFamily="34" charset="-122"/>
                <a:cs typeface="Calibri" pitchFamily="34" charset="-120"/>
              </a:rPr>
              <a:t>Assign someone to monitor the dashboard and respond to feedback</a:t>
            </a:r>
            <a:endParaRPr lang="en-US" sz="1350"/>
          </a:p>
        </p:txBody>
      </p:sp>
      <p:sp>
        <p:nvSpPr>
          <p:cNvPr id="9" name="Shape 7"/>
          <p:cNvSpPr/>
          <p:nvPr/>
        </p:nvSpPr>
        <p:spPr>
          <a:xfrm>
            <a:off x="6172200" y="1417320"/>
            <a:ext cx="5440680" cy="4572000"/>
          </a:xfrm>
          <a:prstGeom prst="roundRect">
            <a:avLst>
              <a:gd name="adj" fmla="val 1600"/>
            </a:avLst>
          </a:prstGeom>
          <a:solidFill>
            <a:srgbClr val="0F5C5C"/>
          </a:solidFill>
          <a:ln/>
        </p:spPr>
        <p:txBody>
          <a:bodyPr/>
          <a:lstStyle/>
          <a:p>
            <a:endParaRPr lang="en-US"/>
          </a:p>
        </p:txBody>
      </p:sp>
      <p:sp>
        <p:nvSpPr>
          <p:cNvPr id="10" name="Text 8"/>
          <p:cNvSpPr/>
          <p:nvPr/>
        </p:nvSpPr>
        <p:spPr>
          <a:xfrm>
            <a:off x="6492240" y="1645920"/>
            <a:ext cx="4846320" cy="457200"/>
          </a:xfrm>
          <a:prstGeom prst="rect">
            <a:avLst/>
          </a:prstGeom>
          <a:noFill/>
          <a:ln/>
        </p:spPr>
        <p:txBody>
          <a:bodyPr wrap="square" rtlCol="0" anchor="ctr"/>
          <a:lstStyle/>
          <a:p>
            <a:pPr marL="0" indent="0">
              <a:buNone/>
            </a:pPr>
            <a:r>
              <a:rPr lang="en-US" sz="1800" b="1">
                <a:solidFill>
                  <a:srgbClr val="FFE7DE"/>
                </a:solidFill>
                <a:latin typeface="Cambria" pitchFamily="34" charset="0"/>
                <a:ea typeface="Cambria" pitchFamily="34" charset="-122"/>
                <a:cs typeface="Cambria" pitchFamily="34" charset="-120"/>
              </a:rPr>
              <a:t>Future opportunities</a:t>
            </a:r>
            <a:endParaRPr lang="en-US" sz="1800"/>
          </a:p>
        </p:txBody>
      </p:sp>
      <p:sp>
        <p:nvSpPr>
          <p:cNvPr id="11" name="Text 9"/>
          <p:cNvSpPr/>
          <p:nvPr/>
        </p:nvSpPr>
        <p:spPr>
          <a:xfrm>
            <a:off x="6492240" y="2240280"/>
            <a:ext cx="4846320" cy="822960"/>
          </a:xfrm>
          <a:prstGeom prst="rect">
            <a:avLst/>
          </a:prstGeom>
          <a:noFill/>
          <a:ln/>
        </p:spPr>
        <p:txBody>
          <a:bodyPr wrap="square" rtlCol="0" anchor="ctr"/>
          <a:lstStyle/>
          <a:p>
            <a:pPr marL="342900" indent="-342900">
              <a:buSzPct val="100000"/>
              <a:buChar char="•"/>
            </a:pPr>
            <a:r>
              <a:rPr lang="en-US" sz="1350">
                <a:solidFill>
                  <a:srgbClr val="FFFFFF"/>
                </a:solidFill>
                <a:latin typeface="Calibri" pitchFamily="34" charset="0"/>
                <a:ea typeface="Calibri" pitchFamily="34" charset="-122"/>
                <a:cs typeface="Calibri" pitchFamily="34" charset="-120"/>
              </a:rPr>
              <a:t>Upgrade to a stronger AI model (LLM / embeddings) as more comments are collected</a:t>
            </a:r>
            <a:endParaRPr lang="en-US" sz="1350"/>
          </a:p>
        </p:txBody>
      </p:sp>
      <p:sp>
        <p:nvSpPr>
          <p:cNvPr id="12" name="Text 10"/>
          <p:cNvSpPr/>
          <p:nvPr/>
        </p:nvSpPr>
        <p:spPr>
          <a:xfrm>
            <a:off x="6492240" y="3136392"/>
            <a:ext cx="4846320" cy="822960"/>
          </a:xfrm>
          <a:prstGeom prst="rect">
            <a:avLst/>
          </a:prstGeom>
          <a:noFill/>
          <a:ln/>
        </p:spPr>
        <p:txBody>
          <a:bodyPr wrap="square" rtlCol="0" anchor="ctr"/>
          <a:lstStyle/>
          <a:p>
            <a:pPr marL="342900" indent="-342900">
              <a:buSzPct val="100000"/>
              <a:buChar char="•"/>
            </a:pPr>
            <a:r>
              <a:rPr lang="en-US" sz="1350">
                <a:solidFill>
                  <a:srgbClr val="FFFFFF"/>
                </a:solidFill>
                <a:latin typeface="Calibri" pitchFamily="34" charset="0"/>
                <a:ea typeface="Calibri" pitchFamily="34" charset="-122"/>
                <a:cs typeface="Calibri" pitchFamily="34" charset="-120"/>
              </a:rPr>
              <a:t>Send real-time alerts when complaints spike</a:t>
            </a:r>
            <a:endParaRPr lang="en-US" sz="1350"/>
          </a:p>
        </p:txBody>
      </p:sp>
      <p:sp>
        <p:nvSpPr>
          <p:cNvPr id="13" name="Text 11"/>
          <p:cNvSpPr/>
          <p:nvPr/>
        </p:nvSpPr>
        <p:spPr>
          <a:xfrm>
            <a:off x="6492240" y="4032504"/>
            <a:ext cx="4846320" cy="822960"/>
          </a:xfrm>
          <a:prstGeom prst="rect">
            <a:avLst/>
          </a:prstGeom>
          <a:noFill/>
          <a:ln/>
        </p:spPr>
        <p:txBody>
          <a:bodyPr wrap="square" rtlCol="0" anchor="ctr"/>
          <a:lstStyle/>
          <a:p>
            <a:pPr marL="342900" indent="-342900">
              <a:buSzPct val="100000"/>
              <a:buChar char="•"/>
            </a:pPr>
            <a:r>
              <a:rPr lang="en-US" sz="1350">
                <a:solidFill>
                  <a:srgbClr val="FFFFFF"/>
                </a:solidFill>
                <a:latin typeface="Calibri" pitchFamily="34" charset="0"/>
                <a:ea typeface="Calibri" pitchFamily="34" charset="-122"/>
                <a:cs typeface="Calibri" pitchFamily="34" charset="-120"/>
              </a:rPr>
              <a:t>Share best practices between high- and low-performing departments</a:t>
            </a:r>
            <a:endParaRPr lang="en-US" sz="1350"/>
          </a:p>
        </p:txBody>
      </p:sp>
      <p:sp>
        <p:nvSpPr>
          <p:cNvPr id="14" name="Text 12"/>
          <p:cNvSpPr/>
          <p:nvPr/>
        </p:nvSpPr>
        <p:spPr>
          <a:xfrm>
            <a:off x="6492240" y="4928616"/>
            <a:ext cx="4846320" cy="822960"/>
          </a:xfrm>
          <a:prstGeom prst="rect">
            <a:avLst/>
          </a:prstGeom>
          <a:noFill/>
          <a:ln/>
        </p:spPr>
        <p:txBody>
          <a:bodyPr wrap="square" rtlCol="0" anchor="ctr"/>
          <a:lstStyle/>
          <a:p>
            <a:pPr marL="342900" indent="-342900">
              <a:buSzPct val="100000"/>
              <a:buChar char="•"/>
            </a:pPr>
            <a:r>
              <a:rPr lang="en-US" sz="1350">
                <a:solidFill>
                  <a:srgbClr val="FFFFFF"/>
                </a:solidFill>
                <a:latin typeface="Calibri" pitchFamily="34" charset="0"/>
                <a:ea typeface="Calibri" pitchFamily="34" charset="-122"/>
                <a:cs typeface="Calibri" pitchFamily="34" charset="-120"/>
              </a:rPr>
              <a:t>Move from predicting risk to recommending scheduling improvements before patients become dissatisfied</a:t>
            </a:r>
            <a:endParaRPr lang="en-US" sz="1350"/>
          </a:p>
        </p:txBody>
      </p:sp>
      <p:sp>
        <p:nvSpPr>
          <p:cNvPr id="15" name="Text 13"/>
          <p:cNvSpPr/>
          <p:nvPr/>
        </p:nvSpPr>
        <p:spPr>
          <a:xfrm>
            <a:off x="457200" y="6510528"/>
            <a:ext cx="8229600" cy="274320"/>
          </a:xfrm>
          <a:prstGeom prst="rect">
            <a:avLst/>
          </a:prstGeom>
          <a:noFill/>
          <a:ln/>
        </p:spPr>
        <p:txBody>
          <a:bodyPr wrap="square" rtlCol="0" anchor="ctr"/>
          <a:lstStyle/>
          <a:p>
            <a:pPr marL="0" indent="0" algn="l">
              <a:buNone/>
            </a:pPr>
            <a:r>
              <a:rPr lang="en-US" sz="1000">
                <a:solidFill>
                  <a:srgbClr val="6B6B66"/>
                </a:solidFill>
                <a:latin typeface="Calibri" pitchFamily="34" charset="0"/>
                <a:ea typeface="Calibri" pitchFamily="34" charset="-122"/>
                <a:cs typeface="Calibri" pitchFamily="34" charset="-120"/>
              </a:rPr>
              <a:t>Sections 7–8 · Roadmap</a:t>
            </a:r>
            <a:endParaRPr lang="en-US" sz="1000"/>
          </a:p>
        </p:txBody>
      </p:sp>
      <p:sp>
        <p:nvSpPr>
          <p:cNvPr id="16" name="Text 14"/>
          <p:cNvSpPr/>
          <p:nvPr/>
        </p:nvSpPr>
        <p:spPr>
          <a:xfrm>
            <a:off x="8531352" y="6510528"/>
            <a:ext cx="3200400" cy="274320"/>
          </a:xfrm>
          <a:prstGeom prst="rect">
            <a:avLst/>
          </a:prstGeom>
          <a:noFill/>
          <a:ln/>
        </p:spPr>
        <p:txBody>
          <a:bodyPr wrap="square" rtlCol="0" anchor="ctr"/>
          <a:lstStyle/>
          <a:p>
            <a:pPr marL="0" indent="0" algn="r">
              <a:buNone/>
            </a:pPr>
            <a:r>
              <a:rPr lang="en-US" sz="1000">
                <a:solidFill>
                  <a:srgbClr val="6B6B66"/>
                </a:solidFill>
                <a:latin typeface="Calibri" pitchFamily="34" charset="0"/>
                <a:ea typeface="Calibri" pitchFamily="34" charset="-122"/>
                <a:cs typeface="Calibri" pitchFamily="34" charset="-120"/>
              </a:rPr>
              <a:t>MedCore Patient Experience</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0A3D3D"/>
        </a:solidFill>
        <a:effectLst/>
      </p:bgPr>
    </p:bg>
    <p:spTree>
      <p:nvGrpSpPr>
        <p:cNvPr id="1" name=""/>
        <p:cNvGrpSpPr/>
        <p:nvPr/>
      </p:nvGrpSpPr>
      <p:grpSpPr>
        <a:xfrm>
          <a:off x="0" y="0"/>
          <a:ext cx="0" cy="0"/>
          <a:chOff x="0" y="0"/>
          <a:chExt cx="0" cy="0"/>
        </a:xfrm>
      </p:grpSpPr>
      <p:sp>
        <p:nvSpPr>
          <p:cNvPr id="2" name="Shape 0"/>
          <p:cNvSpPr/>
          <p:nvPr/>
        </p:nvSpPr>
        <p:spPr>
          <a:xfrm>
            <a:off x="9601200" y="4389120"/>
            <a:ext cx="5029200" cy="5029200"/>
          </a:xfrm>
          <a:prstGeom prst="ellipse">
            <a:avLst/>
          </a:prstGeom>
          <a:solidFill>
            <a:srgbClr val="0F5C5C">
              <a:alpha val="60000"/>
            </a:srgbClr>
          </a:solidFill>
          <a:ln/>
        </p:spPr>
        <p:txBody>
          <a:bodyPr/>
          <a:lstStyle/>
          <a:p>
            <a:endParaRPr lang="en-US"/>
          </a:p>
        </p:txBody>
      </p:sp>
      <p:sp>
        <p:nvSpPr>
          <p:cNvPr id="3" name="Text 1"/>
          <p:cNvSpPr/>
          <p:nvPr/>
        </p:nvSpPr>
        <p:spPr>
          <a:xfrm>
            <a:off x="822960" y="1965960"/>
            <a:ext cx="10058400" cy="731520"/>
          </a:xfrm>
          <a:prstGeom prst="rect">
            <a:avLst/>
          </a:prstGeom>
          <a:noFill/>
          <a:ln/>
        </p:spPr>
        <p:txBody>
          <a:bodyPr wrap="square" rtlCol="0" anchor="ctr"/>
          <a:lstStyle/>
          <a:p>
            <a:pPr marL="0" indent="0">
              <a:buNone/>
            </a:pPr>
            <a:r>
              <a:rPr lang="en-US" sz="3000" b="1">
                <a:solidFill>
                  <a:srgbClr val="CADCDA"/>
                </a:solidFill>
                <a:latin typeface="Cambria" pitchFamily="34" charset="0"/>
                <a:ea typeface="Cambria" pitchFamily="34" charset="-122"/>
                <a:cs typeface="Cambria" pitchFamily="34" charset="-120"/>
              </a:rPr>
              <a:t>Not a wave of unhappy patients.</a:t>
            </a:r>
            <a:endParaRPr lang="en-US" sz="3000"/>
          </a:p>
        </p:txBody>
      </p:sp>
      <p:sp>
        <p:nvSpPr>
          <p:cNvPr id="4" name="Text 2"/>
          <p:cNvSpPr/>
          <p:nvPr/>
        </p:nvSpPr>
        <p:spPr>
          <a:xfrm>
            <a:off x="822960" y="2697480"/>
            <a:ext cx="9875520" cy="1188720"/>
          </a:xfrm>
          <a:prstGeom prst="rect">
            <a:avLst/>
          </a:prstGeom>
          <a:noFill/>
          <a:ln/>
        </p:spPr>
        <p:txBody>
          <a:bodyPr wrap="square" rtlCol="0" anchor="ctr"/>
          <a:lstStyle/>
          <a:p>
            <a:pPr marL="0" indent="0">
              <a:buNone/>
            </a:pPr>
            <a:r>
              <a:rPr lang="en-US" sz="2600" b="1">
                <a:solidFill>
                  <a:srgbClr val="FFFFFF"/>
                </a:solidFill>
                <a:latin typeface="Cambria" pitchFamily="34" charset="0"/>
                <a:ea typeface="Cambria" pitchFamily="34" charset="-122"/>
                <a:cs typeface="Cambria" pitchFamily="34" charset="-120"/>
              </a:rPr>
              <a:t>A structural, three-year-flat, $4.4M-a-year problem — with a clean lever sitting right in your booking data.</a:t>
            </a:r>
            <a:endParaRPr lang="en-US" sz="2600"/>
          </a:p>
        </p:txBody>
      </p:sp>
      <p:sp>
        <p:nvSpPr>
          <p:cNvPr id="5" name="Text 3"/>
          <p:cNvSpPr/>
          <p:nvPr/>
        </p:nvSpPr>
        <p:spPr>
          <a:xfrm>
            <a:off x="822960" y="4114800"/>
            <a:ext cx="9144000" cy="548640"/>
          </a:xfrm>
          <a:prstGeom prst="rect">
            <a:avLst/>
          </a:prstGeom>
          <a:noFill/>
          <a:ln/>
        </p:spPr>
        <p:txBody>
          <a:bodyPr wrap="square" lIns="91440" tIns="45720" rIns="91440" bIns="45720" rtlCol="0" anchor="ctr"/>
          <a:lstStyle/>
          <a:p>
            <a:pPr marL="0" indent="0">
              <a:buNone/>
            </a:pPr>
            <a:r>
              <a:rPr lang="en-US" sz="1800" i="1">
                <a:solidFill>
                  <a:srgbClr val="8FC4BE"/>
                </a:solidFill>
                <a:latin typeface="Calibri"/>
                <a:ea typeface="Calibri"/>
                <a:cs typeface="Calibri"/>
              </a:rPr>
              <a:t>We built the tool to act on it. </a:t>
            </a:r>
            <a:endParaRPr lang="en-US" sz="1800"/>
          </a:p>
        </p:txBody>
      </p:sp>
      <p:sp>
        <p:nvSpPr>
          <p:cNvPr id="6" name="Text 4"/>
          <p:cNvSpPr/>
          <p:nvPr/>
        </p:nvSpPr>
        <p:spPr>
          <a:xfrm>
            <a:off x="822960" y="5852160"/>
            <a:ext cx="9144000" cy="457200"/>
          </a:xfrm>
          <a:prstGeom prst="rect">
            <a:avLst/>
          </a:prstGeom>
          <a:noFill/>
          <a:ln/>
        </p:spPr>
        <p:txBody>
          <a:bodyPr wrap="square" rtlCol="0" anchor="ctr"/>
          <a:lstStyle/>
          <a:p>
            <a:pPr marL="0" indent="0">
              <a:buNone/>
            </a:pPr>
            <a:r>
              <a:rPr lang="en-US" sz="1400">
                <a:solidFill>
                  <a:srgbClr val="8FC4BE"/>
                </a:solidFill>
                <a:latin typeface="Calibri" pitchFamily="34" charset="0"/>
                <a:ea typeface="Calibri" pitchFamily="34" charset="-122"/>
                <a:cs typeface="Calibri" pitchFamily="34" charset="-120"/>
              </a:rPr>
              <a:t>Questions — or want to walk back through anything on the dashboard live?</a:t>
            </a:r>
            <a:endParaRPr 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0</TotalTime>
  <Words>1877</Words>
  <Application>Microsoft Macintosh PowerPoint</Application>
  <PresentationFormat>Widescreen</PresentationFormat>
  <Paragraphs>173</Paragraphs>
  <Slides>11</Slides>
  <Notes>11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Haifa Khan</cp:lastModifiedBy>
  <cp:revision>2</cp:revision>
  <dcterms:created xsi:type="dcterms:W3CDTF">2026-07-09T19:30:51Z</dcterms:created>
  <dcterms:modified xsi:type="dcterms:W3CDTF">2026-07-11T01:29:17Z</dcterms:modified>
</cp:coreProperties>
</file>